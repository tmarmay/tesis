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Tomas Marmay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22T20:51:30.186">
    <p:pos x="6000" y="0"/>
    <p:text>decir que es un dador de carga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7-22T20:52:46.252">
    <p:pos x="6000" y="0"/>
    <p:text>tsp aclrar problema del viajante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7-20T20:36:46.156">
    <p:pos x="6000" y="0"/>
    <p:text>simplicidad de lectura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7-21T15:43:03.563">
    <p:pos x="403" y="1284"/>
    <p:text>Hicimos esto</p:text>
  </p:cm>
  <p:cm authorId="0" idx="5" dt="2026-07-21T15:43:28.511">
    <p:pos x="2827" y="2634"/>
    <p:text>Llegamos a esto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0a34f7a4c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0a34f7a4c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0a34f7a4c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0a34f7a4c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0a34f7a4c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0a34f7a4c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0a34f7a4c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f0a34f7a4c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0a34f7a4c_0_4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0a34f7a4c_0_4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4218ad8c8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4218ad8c8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38307bce3_2_7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38307bce3_2_7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4218ad8c8_3_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4218ad8c8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f54e27278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f54e27278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4218ad8c8_3_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f4218ad8c8_3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4218ad8c8_1_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4218ad8c8_1_1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4218ad8c8_1_9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f4218ad8c8_1_9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4218ad8c8_3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f4218ad8c8_3_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4218ad8c8_3_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577efbfdb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g3f577efbfdb_1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577efbfdb_1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f4bb77f60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3f4bb77f60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f4bb77f608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f580ac095d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f580ac095d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f580ac095d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580ac095d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f580ac095d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f580ac095d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580ac095d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f580ac095d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g3f580ac095d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4" name="Google Shape;7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50758d03e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3f50758d03e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f50758d03e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f577efbfdb_1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3f577efbfdb_1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f577efbfdb_1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50758d03e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g3f50758d03e_2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f50758d03e_2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f577efbfdb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g3f577efbfdb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g3f577efbfdb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f50758d03e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g3f50758d03e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g3f50758d03e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f50758d03e_2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g3f50758d03e_2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f50758d03e_2_1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f50758d03e_2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9" name="Google Shape;959;g3f50758d03e_2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g3f50758d03e_2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f521bed676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g3f521bed676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f521bed676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f521bed676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8" name="Google Shape;988;g3f521bed676_1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f521bed676_1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f521bed676_1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1" name="Google Shape;1011;g3f521bed676_1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3f521bed676_1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f53e8aedca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3" name="Google Shape;1093;g3f53e8aedca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g3f53e8aedca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f53e8aedca_1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1" name="Google Shape;1101;g3f53e8aedca_1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g3f53e8aedca_1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f53e8aedca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g3f53e8aedca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g3f53e8aedca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f53e8aedca_1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5" name="Google Shape;1115;g3f53e8aedca_1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3f53e8aedca_1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f53e8aedca_1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g3f53e8aedca_1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g3f53e8aedca_1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f53e8aedca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9" name="Google Shape;1129;g3f53e8aedca_1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f53e8aedca_1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f53e8aedca_1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g3f53e8aedca_1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g3f53e8aedca_1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f53e8aedca_1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g3f53e8aedca_1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g3f53e8aedca_1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f53e8aedca_1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g3f53e8aedca_1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3f53e8aedca_1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f53e8aedca_1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9" name="Google Shape;1159;g3f53e8aedca_1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g3f53e8aedca_1_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f580ac095d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9" name="Google Shape;1169;g3f580ac095d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f580ac095d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6.jpg"/><Relationship Id="rId7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jpg"/><Relationship Id="rId5" Type="http://schemas.openxmlformats.org/officeDocument/2006/relationships/image" Target="../media/image11.jpg"/><Relationship Id="rId6" Type="http://schemas.openxmlformats.org/officeDocument/2006/relationships/image" Target="../media/image21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6.jpg"/><Relationship Id="rId5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18.png"/><Relationship Id="rId5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4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comments" Target="../comments/comment3.xml"/><Relationship Id="rId4" Type="http://schemas.openxmlformats.org/officeDocument/2006/relationships/image" Target="../media/image6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comments" Target="../comments/comment4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Relationship Id="rId4" Type="http://schemas.openxmlformats.org/officeDocument/2006/relationships/image" Target="../media/image59.png"/><Relationship Id="rId5" Type="http://schemas.openxmlformats.org/officeDocument/2006/relationships/image" Target="../media/image1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7.png"/><Relationship Id="rId4" Type="http://schemas.openxmlformats.org/officeDocument/2006/relationships/image" Target="../media/image3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640080" y="5486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TRABAJO ESPECIAL DE LICENCIATURA EN CIENCIAS DE LA COMPUTACIÓN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640080" y="1234440"/>
            <a:ext cx="99669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mbria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Asignación Óptima de Viajes para Transporte de Maquinaria Agrícola con Restricciones Temporales y Operativas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>
            <a:off x="640080" y="3794760"/>
            <a:ext cx="1188720" cy="0"/>
          </a:xfrm>
          <a:prstGeom prst="straightConnector1">
            <a:avLst/>
          </a:prstGeom>
          <a:noFill/>
          <a:ln cap="flat" cmpd="sng" w="28575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15"/>
          <p:cNvSpPr/>
          <p:nvPr/>
        </p:nvSpPr>
        <p:spPr>
          <a:xfrm>
            <a:off x="640080" y="3950208"/>
            <a:ext cx="6400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Tomás Marmay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640080" y="4425696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9C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Director: Luis Ariel Biedma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090168" y="5154842"/>
            <a:ext cx="475500" cy="4755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leaf_gold.png" id="97" name="Google Shape;9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9040" y="527371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4632968" y="5703482"/>
            <a:ext cx="138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C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9CCBF"/>
                </a:solidFill>
                <a:latin typeface="Calibri"/>
                <a:ea typeface="Calibri"/>
                <a:cs typeface="Calibri"/>
                <a:sym typeface="Calibri"/>
              </a:rPr>
              <a:t>Logística Agrícola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626360" y="5154842"/>
            <a:ext cx="475500" cy="4755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route_gold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5232" y="527371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6169160" y="5703482"/>
            <a:ext cx="138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C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9CCBF"/>
                </a:solidFill>
                <a:latin typeface="Calibri"/>
                <a:ea typeface="Calibri"/>
                <a:cs typeface="Calibri"/>
                <a:sym typeface="Calibri"/>
              </a:rPr>
              <a:t>Ruteo de Vehículos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40080" y="6291072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7A09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7A090"/>
                </a:solidFill>
                <a:latin typeface="Calibri"/>
                <a:ea typeface="Calibri"/>
                <a:cs typeface="Calibri"/>
                <a:sym typeface="Calibri"/>
              </a:rPr>
              <a:t>Facultad de Matemática, Astronomía, Física y Computación   ·   Universidad Nacional de Córdoba   ·   </a:t>
            </a:r>
            <a:r>
              <a:rPr lang="en-US" sz="1050">
                <a:solidFill>
                  <a:srgbClr val="87A090"/>
                </a:solidFill>
                <a:latin typeface="Calibri"/>
                <a:ea typeface="Calibri"/>
                <a:cs typeface="Calibri"/>
                <a:sym typeface="Calibri"/>
              </a:rPr>
              <a:t>Julio</a:t>
            </a:r>
            <a:r>
              <a:rPr b="0" i="0" lang="en-US" sz="1050" u="none" cap="none" strike="noStrike">
                <a:solidFill>
                  <a:srgbClr val="87A090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OBJETIVOS DEL TRABAJO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640080" y="841248"/>
            <a:ext cx="9601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Organización</a:t>
            </a: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de la Presentación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40080" y="1965960"/>
            <a:ext cx="2590800" cy="18744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914400" y="2221992"/>
            <a:ext cx="567000" cy="5670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01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462" y="2358054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2499360" y="216712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914400" y="2898648"/>
            <a:ext cx="204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Contexto y motivación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914400" y="3264408"/>
            <a:ext cx="2042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Situación actual del transporte agrícola y su oportunidad de mejora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413760" y="1965960"/>
            <a:ext cx="2590800" cy="18744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3688080" y="2221992"/>
            <a:ext cx="567000" cy="5670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02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4142" y="2358054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/>
          <p:nvPr/>
        </p:nvSpPr>
        <p:spPr>
          <a:xfrm>
            <a:off x="5273040" y="216712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688080" y="2898648"/>
            <a:ext cx="204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Investigación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688080" y="3264408"/>
            <a:ext cx="2042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Del VRP y sus variantes aplicables al dominio agrícola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187440" y="1965960"/>
            <a:ext cx="2590800" cy="18744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461760" y="2221992"/>
            <a:ext cx="567000" cy="5670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03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7822" y="2358054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8046720" y="216712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461760" y="2898648"/>
            <a:ext cx="204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Modelar el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461760" y="3264408"/>
            <a:ext cx="2042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Formalizar restricciones operativas del transporte agrícola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8961120" y="1965960"/>
            <a:ext cx="2590800" cy="18744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9235440" y="2221992"/>
            <a:ext cx="567000" cy="5670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04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71502" y="2358054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10820400" y="2167128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9235440" y="2898648"/>
            <a:ext cx="204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Implementacion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9235440" y="3264408"/>
            <a:ext cx="2042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 distinta naturaleza y complejidad computacional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40080" y="4352544"/>
            <a:ext cx="2590800" cy="18744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914400" y="4608576"/>
            <a:ext cx="567000" cy="5670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05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462" y="4744638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2499360" y="4553712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914400" y="5285232"/>
            <a:ext cx="204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Framework </a:t>
            </a:r>
            <a:r>
              <a:rPr b="1" lang="en-US" sz="11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y configuraciones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914400" y="5650992"/>
            <a:ext cx="2042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Que permita comparar estrategias bajo condiciones controladas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459465" y="4352544"/>
            <a:ext cx="2590800" cy="18744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733785" y="4608576"/>
            <a:ext cx="567000" cy="5670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_07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69847" y="4744638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5318745" y="4553712"/>
            <a:ext cx="50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1" lang="en-US" sz="15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3733785" y="5285232"/>
            <a:ext cx="2042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Comparación de</a:t>
            </a:r>
            <a:r>
              <a:rPr b="1" i="0" lang="en-US" sz="11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resultados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733785" y="5650992"/>
            <a:ext cx="20421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En calidad de solución y tiempo de cómputo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640080" y="750000"/>
            <a:ext cx="90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SECCIÓN 01 DE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40080" y="1250000"/>
            <a:ext cx="103669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Contexto y motivación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40080" y="2150000"/>
            <a:ext cx="9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9C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Por qué el transporte de maquinaria agrícola necesita un sistema de asignación inteligente.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7"/>
          <p:cNvCxnSpPr>
            <a:endCxn id="154" idx="6"/>
          </p:cNvCxnSpPr>
          <p:nvPr/>
        </p:nvCxnSpPr>
        <p:spPr>
          <a:xfrm>
            <a:off x="982880" y="4600000"/>
            <a:ext cx="8750400" cy="0"/>
          </a:xfrm>
          <a:prstGeom prst="straightConnector1">
            <a:avLst/>
          </a:prstGeom>
          <a:noFill/>
          <a:ln cap="flat" cmpd="sng" w="12700">
            <a:solidFill>
              <a:srgbClr val="3A5A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7"/>
          <p:cNvSpPr/>
          <p:nvPr/>
        </p:nvSpPr>
        <p:spPr>
          <a:xfrm>
            <a:off x="640080" y="4257100"/>
            <a:ext cx="685800" cy="6858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45872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16306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86740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57174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2760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640077" y="502925"/>
            <a:ext cx="476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CÓMO SE RESUELVE HOY · CASO PRÁCTICO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001604" y="963425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i="0" lang="en-US" sz="4484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Pablo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001606" y="1793862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2184302" y="1793862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Dador de carga</a:t>
            </a:r>
            <a:endParaRPr b="1" sz="9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371824" y="1793862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5684" y="1876906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3703998" y="1793862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i="0" lang="en-US" sz="913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CÓRDOBA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31384" y="1080288"/>
            <a:ext cx="1118700" cy="11187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39350" lIns="39350" spcFirstLastPara="1" rIns="39350" wrap="square" tIns="3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2"/>
          </a:p>
        </p:txBody>
      </p:sp>
      <p:pic>
        <p:nvPicPr>
          <p:cNvPr descr="HeroIcon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1165" y="1359986"/>
            <a:ext cx="559395" cy="55939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1958484" y="2356670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i="0" lang="en-US" sz="4484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Juan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958486" y="3187107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2141182" y="3187107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Transportista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88773" y="2344275"/>
            <a:ext cx="1203900" cy="1204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42325" lIns="42325" spcFirstLastPara="1" rIns="42325" wrap="square" tIns="4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pic>
        <p:nvPicPr>
          <p:cNvPr descr="HeroIcon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809" y="2645293"/>
            <a:ext cx="601999" cy="6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3371824" y="3187107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5684" y="3270150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/>
          <p:nvPr/>
        </p:nvSpPr>
        <p:spPr>
          <a:xfrm>
            <a:off x="3703998" y="3187107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i="0" lang="en-US" sz="913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CÓRDOBA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2001604" y="3797450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lang="en-US" sz="4484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Tito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2001606" y="4627887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2184302" y="4627887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Dador de carga</a:t>
            </a:r>
            <a:endParaRPr b="1" sz="9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3371824" y="4627887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5684" y="4710931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/>
          <p:nvPr/>
        </p:nvSpPr>
        <p:spPr>
          <a:xfrm>
            <a:off x="3703998" y="4627887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BUENOS AIRES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31384" y="3914313"/>
            <a:ext cx="1118700" cy="11187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39350" lIns="39350" spcFirstLastPara="1" rIns="39350" wrap="square" tIns="3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2"/>
          </a:p>
        </p:txBody>
      </p:sp>
      <p:pic>
        <p:nvPicPr>
          <p:cNvPr descr="HeroIcon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1165" y="4194011"/>
            <a:ext cx="559395" cy="55939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/>
          <p:nvPr/>
        </p:nvSpPr>
        <p:spPr>
          <a:xfrm>
            <a:off x="1958484" y="5190695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lang="en-US" sz="4484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Maria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1958486" y="6021132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2141182" y="6021132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Transportista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8773" y="5178300"/>
            <a:ext cx="1203900" cy="1204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42325" lIns="42325" spcFirstLastPara="1" rIns="42325" wrap="square" tIns="4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pic>
        <p:nvPicPr>
          <p:cNvPr descr="HeroIcon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9809" y="5479318"/>
            <a:ext cx="601999" cy="6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/>
          <p:nvPr/>
        </p:nvSpPr>
        <p:spPr>
          <a:xfrm>
            <a:off x="3371824" y="6021132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5684" y="6104175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/>
          <p:nvPr/>
        </p:nvSpPr>
        <p:spPr>
          <a:xfrm>
            <a:off x="3703998" y="6021132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BUENOS AIRES</a:t>
            </a:r>
            <a:endParaRPr b="1" sz="913">
              <a:solidFill>
                <a:srgbClr val="1E3D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/>
          <p:nvPr/>
        </p:nvSpPr>
        <p:spPr>
          <a:xfrm>
            <a:off x="640077" y="502925"/>
            <a:ext cx="476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CÓMO SE RESUELVE HOY · CASO PRÁCTICO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001604" y="963425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i="0" lang="en-US" sz="4484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Pablo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2001606" y="1793862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2184302" y="1793862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Dador de carga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371824" y="1793862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5684" y="1876906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3703998" y="1793862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i="0" lang="en-US" sz="913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CÓRDOBA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31384" y="1080288"/>
            <a:ext cx="1118700" cy="11187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39350" lIns="39350" spcFirstLastPara="1" rIns="39350" wrap="square" tIns="3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2"/>
          </a:p>
        </p:txBody>
      </p:sp>
      <p:pic>
        <p:nvPicPr>
          <p:cNvPr descr="HeroIcon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165" y="1359986"/>
            <a:ext cx="559395" cy="55939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/>
          <p:nvPr/>
        </p:nvSpPr>
        <p:spPr>
          <a:xfrm>
            <a:off x="1958484" y="2356670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i="0" lang="en-US" sz="4484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Juan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958486" y="3187107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2141182" y="3187107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Transportista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88773" y="2344275"/>
            <a:ext cx="1203900" cy="1204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42325" lIns="42325" spcFirstLastPara="1" rIns="42325" wrap="square" tIns="4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pic>
        <p:nvPicPr>
          <p:cNvPr descr="HeroIcon.png" id="214" name="Google Shape;21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809" y="2645293"/>
            <a:ext cx="601999" cy="6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3371824" y="3187107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216" name="Google Shape;2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5684" y="3270150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/>
          <p:nvPr/>
        </p:nvSpPr>
        <p:spPr>
          <a:xfrm>
            <a:off x="3703998" y="3187107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i="0" lang="en-US" sz="913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CÓRDOBA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2001604" y="3797450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lang="en-US" sz="4484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Tito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2001606" y="4627887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>
            <a:off x="2184302" y="4627887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Dador de carga</a:t>
            </a:r>
            <a:endParaRPr b="1" sz="913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3371824" y="4627887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222" name="Google Shape;2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5684" y="4710931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/>
          <p:nvPr/>
        </p:nvSpPr>
        <p:spPr>
          <a:xfrm>
            <a:off x="3703998" y="4627887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BUENOS AIRES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631384" y="3914313"/>
            <a:ext cx="1118700" cy="11187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39350" lIns="39350" spcFirstLastPara="1" rIns="39350" wrap="square" tIns="3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2"/>
          </a:p>
        </p:txBody>
      </p:sp>
      <p:pic>
        <p:nvPicPr>
          <p:cNvPr descr="HeroIcon.png" id="225" name="Google Shape;2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1165" y="4194011"/>
            <a:ext cx="559395" cy="5593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1958484" y="5190695"/>
            <a:ext cx="31971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484"/>
              <a:buFont typeface="Cambria"/>
              <a:buNone/>
            </a:pPr>
            <a:r>
              <a:rPr b="1" lang="en-US" sz="4484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Maria</a:t>
            </a:r>
            <a:endParaRPr b="0" i="0" sz="44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958486" y="6021132"/>
            <a:ext cx="1203900" cy="348900"/>
          </a:xfrm>
          <a:prstGeom prst="roundRect">
            <a:avLst>
              <a:gd fmla="val 439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2141182" y="6021132"/>
            <a:ext cx="897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Transportista</a:t>
            </a:r>
            <a:endParaRPr b="0" i="0" sz="9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88773" y="5178300"/>
            <a:ext cx="1203900" cy="1204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42325" lIns="42325" spcFirstLastPara="1" rIns="42325" wrap="square" tIns="4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1"/>
          </a:p>
        </p:txBody>
      </p:sp>
      <p:pic>
        <p:nvPicPr>
          <p:cNvPr descr="HeroIcon.png" id="230" name="Google Shape;23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809" y="5479318"/>
            <a:ext cx="601999" cy="60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3371824" y="6021132"/>
            <a:ext cx="1827000" cy="348900"/>
          </a:xfrm>
          <a:prstGeom prst="roundRect">
            <a:avLst>
              <a:gd fmla="val 4390" name="adj"/>
            </a:avLst>
          </a:prstGeom>
          <a:solidFill>
            <a:srgbClr val="E7EEE7"/>
          </a:solidFill>
          <a:ln>
            <a:noFill/>
          </a:ln>
        </p:spPr>
        <p:txBody>
          <a:bodyPr anchorCtr="0" anchor="ctr" bIns="75925" lIns="75925" spcFirstLastPara="1" rIns="75925" wrap="square" tIns="7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illIcon.png" id="232" name="Google Shape;2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5684" y="6104175"/>
            <a:ext cx="182696" cy="1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3703998" y="6021132"/>
            <a:ext cx="144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9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BUENOS AIRES</a:t>
            </a:r>
            <a:endParaRPr b="1" sz="913">
              <a:solidFill>
                <a:srgbClr val="1E3D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9" title="cba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1748" y="1133013"/>
            <a:ext cx="1203900" cy="187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9" title="bs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51675" y="1063750"/>
            <a:ext cx="1445100" cy="20133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19"/>
          <p:cNvCxnSpPr/>
          <p:nvPr/>
        </p:nvCxnSpPr>
        <p:spPr>
          <a:xfrm>
            <a:off x="7538700" y="2125975"/>
            <a:ext cx="1905000" cy="117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19"/>
          <p:cNvSpPr/>
          <p:nvPr/>
        </p:nvSpPr>
        <p:spPr>
          <a:xfrm>
            <a:off x="6463874" y="859550"/>
            <a:ext cx="463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913"/>
              <a:buFont typeface="Calibri"/>
              <a:buNone/>
            </a:pPr>
            <a:r>
              <a:rPr b="1" lang="en-US" sz="16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Compró una máquina, la necesita en Buenos Aires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19" title="cba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72285" y="3983575"/>
            <a:ext cx="1203900" cy="187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 title="bs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1150" y="3914312"/>
            <a:ext cx="1445100" cy="20133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19"/>
          <p:cNvCxnSpPr/>
          <p:nvPr/>
        </p:nvCxnSpPr>
        <p:spPr>
          <a:xfrm>
            <a:off x="7538700" y="4814900"/>
            <a:ext cx="1905000" cy="117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" name="Google Shape;241;p19"/>
          <p:cNvSpPr/>
          <p:nvPr/>
        </p:nvSpPr>
        <p:spPr>
          <a:xfrm>
            <a:off x="6463874" y="3548475"/>
            <a:ext cx="463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1" lang="en-US" sz="1613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Necesita mover maquinaria entre campos</a:t>
            </a:r>
            <a:endParaRPr sz="1000">
              <a:solidFill>
                <a:srgbClr val="5F6B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"/>
          <p:cNvSpPr/>
          <p:nvPr/>
        </p:nvSpPr>
        <p:spPr>
          <a:xfrm>
            <a:off x="640080" y="502920"/>
            <a:ext cx="95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CÓMO SE RESUELVE HOY · CASO PRÁCTICO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47900" y="872875"/>
            <a:ext cx="5199900" cy="15900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597905" y="1052875"/>
            <a:ext cx="4700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CÓRDOBA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597905" y="1462875"/>
            <a:ext cx="4700100" cy="75990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747905" y="1562875"/>
            <a:ext cx="560100" cy="5601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ersonIcon.png"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905" y="1692875"/>
            <a:ext cx="300000" cy="3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/>
          <p:nvPr/>
        </p:nvSpPr>
        <p:spPr>
          <a:xfrm>
            <a:off x="1457905" y="1572875"/>
            <a:ext cx="369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Pablo · </a:t>
            </a:r>
            <a:r>
              <a:rPr b="1" lang="en-US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Dador de carga</a:t>
            </a:r>
            <a:endParaRPr b="1" sz="1300">
              <a:solidFill>
                <a:srgbClr val="1E3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1E3D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1457905" y="1892875"/>
            <a:ext cx="369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Compró una máquina, la necesita en Buenos Aires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0"/>
          <p:cNvCxnSpPr/>
          <p:nvPr/>
        </p:nvCxnSpPr>
        <p:spPr>
          <a:xfrm flipH="1">
            <a:off x="2647718" y="4157150"/>
            <a:ext cx="15900" cy="9657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" name="Google Shape;255;p20"/>
          <p:cNvSpPr/>
          <p:nvPr/>
        </p:nvSpPr>
        <p:spPr>
          <a:xfrm>
            <a:off x="1577900" y="3357450"/>
            <a:ext cx="2378700" cy="803700"/>
          </a:xfrm>
          <a:prstGeom prst="roundRect">
            <a:avLst>
              <a:gd fmla="val 4390" name="adj"/>
            </a:avLst>
          </a:prstGeom>
          <a:solidFill>
            <a:srgbClr val="FBEAE5"/>
          </a:solidFill>
          <a:ln>
            <a:noFill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1577900" y="3405125"/>
            <a:ext cx="23787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38"/>
              <a:buFont typeface="Calibri"/>
              <a:buNone/>
            </a:pPr>
            <a:r>
              <a:rPr b="1" i="0" lang="en-US" sz="1238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CÓRDOBA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ersonIcon.png" id="257" name="Google Shape;2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79" y="3724675"/>
            <a:ext cx="285583" cy="285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Icon.png" id="258" name="Google Shape;2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9079" y="3724688"/>
            <a:ext cx="285583" cy="285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Icon.png" id="259" name="Google Shape;2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1679" y="3724675"/>
            <a:ext cx="285583" cy="285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Icon.png" id="260" name="Google Shape;2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4279" y="3724700"/>
            <a:ext cx="285583" cy="285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0"/>
          <p:cNvGrpSpPr/>
          <p:nvPr/>
        </p:nvGrpSpPr>
        <p:grpSpPr>
          <a:xfrm>
            <a:off x="301425" y="5166925"/>
            <a:ext cx="5199900" cy="1171500"/>
            <a:chOff x="4339975" y="5190000"/>
            <a:chExt cx="5199900" cy="1171500"/>
          </a:xfrm>
        </p:grpSpPr>
        <p:sp>
          <p:nvSpPr>
            <p:cNvPr id="262" name="Google Shape;262;p20"/>
            <p:cNvSpPr/>
            <p:nvPr/>
          </p:nvSpPr>
          <p:spPr>
            <a:xfrm>
              <a:off x="4339975" y="5190000"/>
              <a:ext cx="5199900" cy="11715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4627480" y="5401363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4777480" y="5501363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265" name="Google Shape;26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07480" y="5631363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0"/>
            <p:cNvSpPr/>
            <p:nvPr/>
          </p:nvSpPr>
          <p:spPr>
            <a:xfrm>
              <a:off x="5499105" y="5638938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Juan</a:t>
              </a: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Transportista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7" name="Google Shape;267;p20"/>
          <p:cNvCxnSpPr/>
          <p:nvPr/>
        </p:nvCxnSpPr>
        <p:spPr>
          <a:xfrm flipH="1">
            <a:off x="1930875" y="246317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" name="Google Shape;268;p20"/>
          <p:cNvCxnSpPr/>
          <p:nvPr/>
        </p:nvCxnSpPr>
        <p:spPr>
          <a:xfrm flipH="1">
            <a:off x="1577900" y="245507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20"/>
          <p:cNvCxnSpPr/>
          <p:nvPr/>
        </p:nvCxnSpPr>
        <p:spPr>
          <a:xfrm flipH="1">
            <a:off x="3653625" y="245912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" name="Google Shape;270;p20"/>
          <p:cNvCxnSpPr/>
          <p:nvPr/>
        </p:nvCxnSpPr>
        <p:spPr>
          <a:xfrm flipH="1">
            <a:off x="3947900" y="245912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" name="Google Shape;271;p20"/>
          <p:cNvSpPr/>
          <p:nvPr/>
        </p:nvSpPr>
        <p:spPr>
          <a:xfrm>
            <a:off x="1577900" y="2651413"/>
            <a:ext cx="23787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38"/>
              <a:buFont typeface="Calibri"/>
              <a:buNone/>
            </a:pPr>
            <a:r>
              <a:rPr b="1" lang="en-US" sz="1238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6598625" y="872875"/>
            <a:ext cx="5199900" cy="15900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6848630" y="1052875"/>
            <a:ext cx="4700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BUENOS AIRES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848630" y="1462875"/>
            <a:ext cx="4700100" cy="759900"/>
          </a:xfrm>
          <a:prstGeom prst="roundRect">
            <a:avLst>
              <a:gd fmla="val 439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6998630" y="1562875"/>
            <a:ext cx="560100" cy="5601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ersonIcon.png" id="276" name="Google Shape;2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8630" y="1692875"/>
            <a:ext cx="300000" cy="3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/>
          <p:nvPr/>
        </p:nvSpPr>
        <p:spPr>
          <a:xfrm>
            <a:off x="7708630" y="1572875"/>
            <a:ext cx="369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Tito</a:t>
            </a:r>
            <a:r>
              <a:rPr b="1" i="0" lang="en-US" sz="13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Dador de carga</a:t>
            </a:r>
            <a:endParaRPr b="1" sz="1300">
              <a:solidFill>
                <a:srgbClr val="1E3D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1E3D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7708630" y="1892875"/>
            <a:ext cx="369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Necesita mover maquinaria entre campos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F6B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0"/>
          <p:cNvCxnSpPr/>
          <p:nvPr/>
        </p:nvCxnSpPr>
        <p:spPr>
          <a:xfrm flipH="1">
            <a:off x="8898443" y="4157150"/>
            <a:ext cx="15900" cy="9657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20"/>
          <p:cNvSpPr/>
          <p:nvPr/>
        </p:nvSpPr>
        <p:spPr>
          <a:xfrm>
            <a:off x="7828625" y="3357450"/>
            <a:ext cx="2378700" cy="803700"/>
          </a:xfrm>
          <a:prstGeom prst="roundRect">
            <a:avLst>
              <a:gd fmla="val 4390" name="adj"/>
            </a:avLst>
          </a:prstGeom>
          <a:solidFill>
            <a:srgbClr val="FBEAE5"/>
          </a:solidFill>
          <a:ln>
            <a:noFill/>
          </a:ln>
        </p:spPr>
        <p:txBody>
          <a:bodyPr anchorCtr="0" anchor="ctr" bIns="87025" lIns="87025" spcFirstLastPara="1" rIns="87025" wrap="square" tIns="87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7828625" y="3405125"/>
            <a:ext cx="23787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38"/>
              <a:buFont typeface="Calibri"/>
              <a:buNone/>
            </a:pPr>
            <a:r>
              <a:rPr b="1" lang="en-US" sz="1238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BUENOS AIRES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ersonIcon.png" id="282" name="Google Shape;2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7204" y="3724675"/>
            <a:ext cx="285583" cy="285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Icon.png" id="283" name="Google Shape;2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9804" y="3724688"/>
            <a:ext cx="285583" cy="285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Icon.png" id="284" name="Google Shape;2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2404" y="3724675"/>
            <a:ext cx="285583" cy="285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Icon.png" id="285" name="Google Shape;2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5004" y="3724700"/>
            <a:ext cx="285583" cy="285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20"/>
          <p:cNvGrpSpPr/>
          <p:nvPr/>
        </p:nvGrpSpPr>
        <p:grpSpPr>
          <a:xfrm>
            <a:off x="6552150" y="5166925"/>
            <a:ext cx="5199900" cy="1171500"/>
            <a:chOff x="4339975" y="5190000"/>
            <a:chExt cx="5199900" cy="1171500"/>
          </a:xfrm>
        </p:grpSpPr>
        <p:sp>
          <p:nvSpPr>
            <p:cNvPr id="287" name="Google Shape;287;p20"/>
            <p:cNvSpPr/>
            <p:nvPr/>
          </p:nvSpPr>
          <p:spPr>
            <a:xfrm>
              <a:off x="4339975" y="5190000"/>
              <a:ext cx="5199900" cy="11715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4627480" y="5401363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4777480" y="5501363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290" name="Google Shape;29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07480" y="5631363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20"/>
            <p:cNvSpPr/>
            <p:nvPr/>
          </p:nvSpPr>
          <p:spPr>
            <a:xfrm>
              <a:off x="5499105" y="5638938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María</a:t>
              </a: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Transportista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92" name="Google Shape;292;p20"/>
          <p:cNvCxnSpPr/>
          <p:nvPr/>
        </p:nvCxnSpPr>
        <p:spPr>
          <a:xfrm flipH="1">
            <a:off x="8181600" y="246317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p20"/>
          <p:cNvCxnSpPr/>
          <p:nvPr/>
        </p:nvCxnSpPr>
        <p:spPr>
          <a:xfrm flipH="1">
            <a:off x="7828625" y="245507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p20"/>
          <p:cNvCxnSpPr/>
          <p:nvPr/>
        </p:nvCxnSpPr>
        <p:spPr>
          <a:xfrm flipH="1">
            <a:off x="9904350" y="245912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20"/>
          <p:cNvCxnSpPr/>
          <p:nvPr/>
        </p:nvCxnSpPr>
        <p:spPr>
          <a:xfrm flipH="1">
            <a:off x="10198625" y="2459125"/>
            <a:ext cx="8700" cy="80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20"/>
          <p:cNvSpPr/>
          <p:nvPr/>
        </p:nvSpPr>
        <p:spPr>
          <a:xfrm>
            <a:off x="7828625" y="2651413"/>
            <a:ext cx="23787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38"/>
              <a:buFont typeface="Calibri"/>
              <a:buNone/>
            </a:pPr>
            <a:r>
              <a:rPr b="1" lang="en-US" sz="1238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WhatsApp</a:t>
            </a:r>
            <a:endParaRPr b="0" i="0" sz="12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640080" y="502920"/>
            <a:ext cx="95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CÓMO SE RESUELVE HOY · CASO PRÁCTICO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" name="Google Shape;302;p21"/>
          <p:cNvGrpSpPr/>
          <p:nvPr/>
        </p:nvGrpSpPr>
        <p:grpSpPr>
          <a:xfrm>
            <a:off x="640075" y="1991900"/>
            <a:ext cx="5199900" cy="1171500"/>
            <a:chOff x="4339975" y="5190000"/>
            <a:chExt cx="5199900" cy="1171500"/>
          </a:xfrm>
        </p:grpSpPr>
        <p:sp>
          <p:nvSpPr>
            <p:cNvPr id="303" name="Google Shape;303;p21"/>
            <p:cNvSpPr/>
            <p:nvPr/>
          </p:nvSpPr>
          <p:spPr>
            <a:xfrm>
              <a:off x="4339975" y="5190000"/>
              <a:ext cx="5199900" cy="11715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1"/>
            <p:cNvSpPr/>
            <p:nvPr/>
          </p:nvSpPr>
          <p:spPr>
            <a:xfrm>
              <a:off x="4627480" y="5401363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>
              <a:off x="4777480" y="5501363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306" name="Google Shape;30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07480" y="5631363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1"/>
            <p:cNvSpPr/>
            <p:nvPr/>
          </p:nvSpPr>
          <p:spPr>
            <a:xfrm>
              <a:off x="5499105" y="5638938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Juan</a:t>
              </a: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Transportista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21"/>
          <p:cNvGrpSpPr/>
          <p:nvPr/>
        </p:nvGrpSpPr>
        <p:grpSpPr>
          <a:xfrm>
            <a:off x="6443150" y="1991900"/>
            <a:ext cx="5199900" cy="1171500"/>
            <a:chOff x="4339975" y="5190000"/>
            <a:chExt cx="5199900" cy="1171500"/>
          </a:xfrm>
        </p:grpSpPr>
        <p:sp>
          <p:nvSpPr>
            <p:cNvPr id="309" name="Google Shape;309;p21"/>
            <p:cNvSpPr/>
            <p:nvPr/>
          </p:nvSpPr>
          <p:spPr>
            <a:xfrm>
              <a:off x="4339975" y="5190000"/>
              <a:ext cx="5199900" cy="11715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1"/>
            <p:cNvSpPr/>
            <p:nvPr/>
          </p:nvSpPr>
          <p:spPr>
            <a:xfrm>
              <a:off x="4627480" y="5401363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1"/>
            <p:cNvSpPr/>
            <p:nvPr/>
          </p:nvSpPr>
          <p:spPr>
            <a:xfrm>
              <a:off x="4777480" y="5501363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312" name="Google Shape;31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07480" y="5631363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21"/>
            <p:cNvSpPr/>
            <p:nvPr/>
          </p:nvSpPr>
          <p:spPr>
            <a:xfrm>
              <a:off x="5499105" y="5638938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María</a:t>
              </a: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Transportista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4" name="Google Shape;314;p21" title="cb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39148" y="1500088"/>
            <a:ext cx="1203900" cy="187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1" title="bs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4875" y="1571000"/>
            <a:ext cx="1445100" cy="201330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1"/>
          <p:cNvSpPr/>
          <p:nvPr/>
        </p:nvSpPr>
        <p:spPr>
          <a:xfrm>
            <a:off x="640080" y="850000"/>
            <a:ext cx="10911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Luego de la entrega de las maquinarias: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21"/>
          <p:cNvGrpSpPr/>
          <p:nvPr/>
        </p:nvGrpSpPr>
        <p:grpSpPr>
          <a:xfrm>
            <a:off x="411471" y="4141150"/>
            <a:ext cx="11140500" cy="1684500"/>
            <a:chOff x="411421" y="4365425"/>
            <a:chExt cx="11140500" cy="1684500"/>
          </a:xfrm>
        </p:grpSpPr>
        <p:sp>
          <p:nvSpPr>
            <p:cNvPr id="318" name="Google Shape;318;p21"/>
            <p:cNvSpPr/>
            <p:nvPr/>
          </p:nvSpPr>
          <p:spPr>
            <a:xfrm>
              <a:off x="411421" y="4365425"/>
              <a:ext cx="11140500" cy="1684500"/>
            </a:xfrm>
            <a:prstGeom prst="roundRect">
              <a:avLst>
                <a:gd fmla="val 4390" name="adj"/>
              </a:avLst>
            </a:prstGeom>
            <a:solidFill>
              <a:srgbClr val="FBEAE5"/>
            </a:solidFill>
            <a:ln>
              <a:noFill/>
            </a:ln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717707" y="4549197"/>
              <a:ext cx="10527900" cy="3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5502C"/>
                </a:buClr>
                <a:buSzPts val="1838"/>
                <a:buFont typeface="Cambria"/>
                <a:buNone/>
              </a:pPr>
              <a:r>
                <a:rPr b="1" i="0" lang="en-US" sz="1838" u="none" cap="none" strike="noStrike">
                  <a:solidFill>
                    <a:srgbClr val="B5502C"/>
                  </a:solidFill>
                  <a:latin typeface="Cambria"/>
                  <a:ea typeface="Cambria"/>
                  <a:cs typeface="Cambria"/>
                  <a:sym typeface="Cambria"/>
                </a:rPr>
                <a:t>¿Cómo vuelven?</a:t>
              </a:r>
              <a:endParaRPr b="0" i="0" sz="183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717707" y="5029045"/>
              <a:ext cx="5059800" cy="816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3729" rotWithShape="0" algn="bl" dir="5400000" dist="38898">
                <a:srgbClr val="1E3D2B">
                  <a:alpha val="10200"/>
                </a:srgbClr>
              </a:outerShdw>
            </a:effectLst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870850" y="5161770"/>
              <a:ext cx="459300" cy="4593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BranchIcon.png" id="322" name="Google Shape;322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3155" y="5274075"/>
              <a:ext cx="234820" cy="2348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1"/>
            <p:cNvSpPr/>
            <p:nvPr/>
          </p:nvSpPr>
          <p:spPr>
            <a:xfrm>
              <a:off x="1483423" y="5161770"/>
              <a:ext cx="4140900" cy="32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27"/>
                <a:buFont typeface="Calibri"/>
                <a:buNone/>
              </a:pPr>
              <a:r>
                <a:rPr b="1" i="0" lang="en-US" sz="1327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Vuelve vacío</a:t>
              </a:r>
              <a:endParaRPr b="0" i="0" sz="13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1483423" y="5498685"/>
              <a:ext cx="41409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6B62"/>
                </a:buClr>
                <a:buSzPts val="1021"/>
                <a:buFont typeface="Calibri"/>
                <a:buNone/>
              </a:pPr>
              <a:r>
                <a:rPr b="0" i="0" lang="en-US" sz="1021" u="none" cap="none" strike="noStrike">
                  <a:solidFill>
                    <a:srgbClr val="5F6B62"/>
                  </a:solidFill>
                  <a:latin typeface="Calibri"/>
                  <a:ea typeface="Calibri"/>
                  <a:cs typeface="Calibri"/>
                  <a:sym typeface="Calibri"/>
                </a:rPr>
                <a:t>El costo ya está pagado — o lo pierde el transportista</a:t>
              </a:r>
              <a:endParaRPr b="0" i="0" sz="102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6185858" y="5029045"/>
              <a:ext cx="5059800" cy="816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3729" rotWithShape="0" algn="bl" dir="5400000" dist="38898">
                <a:srgbClr val="1E3D2B">
                  <a:alpha val="10200"/>
                </a:srgbClr>
              </a:outerShdw>
            </a:effectLst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6339001" y="5161770"/>
              <a:ext cx="459300" cy="4593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3350" lIns="93350" spcFirstLastPara="1" rIns="93350" wrap="square" tIns="93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BranchIcon.png" id="327" name="Google Shape;327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51306" y="5274075"/>
              <a:ext cx="234820" cy="2348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21"/>
            <p:cNvSpPr/>
            <p:nvPr/>
          </p:nvSpPr>
          <p:spPr>
            <a:xfrm>
              <a:off x="6951574" y="5161770"/>
              <a:ext cx="4140900" cy="32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27"/>
                <a:buFont typeface="Calibri"/>
                <a:buNone/>
              </a:pPr>
              <a:r>
                <a:rPr b="1" i="0" lang="en-US" sz="1327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Busca un flete de vuelta</a:t>
              </a:r>
              <a:endParaRPr b="0" i="0" sz="132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6951574" y="5498685"/>
              <a:ext cx="4140900" cy="30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6B62"/>
                </a:buClr>
                <a:buSzPts val="1021"/>
                <a:buFont typeface="Calibri"/>
                <a:buNone/>
              </a:pPr>
              <a:r>
                <a:rPr b="0" i="0" lang="en-US" sz="1021" u="none" cap="none" strike="noStrike">
                  <a:solidFill>
                    <a:srgbClr val="5F6B62"/>
                  </a:solidFill>
                  <a:latin typeface="Calibri"/>
                  <a:ea typeface="Calibri"/>
                  <a:cs typeface="Calibri"/>
                  <a:sym typeface="Calibri"/>
                </a:rPr>
                <a:t>No conoce transportistas en la otra ciudad, o no coinciden los tiempos</a:t>
              </a:r>
              <a:endParaRPr b="0" i="0" sz="102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0" name="Google Shape;330;p21"/>
          <p:cNvCxnSpPr/>
          <p:nvPr/>
        </p:nvCxnSpPr>
        <p:spPr>
          <a:xfrm>
            <a:off x="2485800" y="3171125"/>
            <a:ext cx="0" cy="917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21"/>
          <p:cNvCxnSpPr/>
          <p:nvPr/>
        </p:nvCxnSpPr>
        <p:spPr>
          <a:xfrm>
            <a:off x="8758350" y="3136275"/>
            <a:ext cx="11700" cy="9642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/>
          <p:nvPr/>
        </p:nvSpPr>
        <p:spPr>
          <a:xfrm>
            <a:off x="370705" y="566300"/>
            <a:ext cx="10911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Como Podria Resolverse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" name="Google Shape;337;p22"/>
          <p:cNvGrpSpPr/>
          <p:nvPr/>
        </p:nvGrpSpPr>
        <p:grpSpPr>
          <a:xfrm>
            <a:off x="370675" y="1372375"/>
            <a:ext cx="11450625" cy="1590000"/>
            <a:chOff x="370688" y="1616300"/>
            <a:chExt cx="11450625" cy="1590000"/>
          </a:xfrm>
        </p:grpSpPr>
        <p:sp>
          <p:nvSpPr>
            <p:cNvPr id="338" name="Google Shape;338;p22"/>
            <p:cNvSpPr/>
            <p:nvPr/>
          </p:nvSpPr>
          <p:spPr>
            <a:xfrm>
              <a:off x="370688" y="1616300"/>
              <a:ext cx="5199900" cy="15900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620692" y="1796300"/>
              <a:ext cx="47001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CÓRDOBA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620692" y="2206300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770692" y="2306300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342" name="Google Shape;34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0692" y="24363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22"/>
            <p:cNvSpPr/>
            <p:nvPr/>
          </p:nvSpPr>
          <p:spPr>
            <a:xfrm>
              <a:off x="1480693" y="2316300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Pablo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Dador de carga</a:t>
              </a:r>
              <a:endParaRPr b="1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t/>
              </a:r>
              <a:endParaRPr b="1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1480693" y="2636300"/>
              <a:ext cx="369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6B62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5F6B62"/>
                  </a:solidFill>
                  <a:latin typeface="Calibri"/>
                  <a:ea typeface="Calibri"/>
                  <a:cs typeface="Calibri"/>
                  <a:sym typeface="Calibri"/>
                </a:rPr>
                <a:t>Compró una máquina, la necesita en Buenos Aires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6621413" y="1616300"/>
              <a:ext cx="5199900" cy="15900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6871418" y="1796300"/>
              <a:ext cx="47001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BUENOS AIRES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6871418" y="2206300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7021418" y="2306300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349" name="Google Shape;34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51418" y="24363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22"/>
            <p:cNvSpPr/>
            <p:nvPr/>
          </p:nvSpPr>
          <p:spPr>
            <a:xfrm>
              <a:off x="7731418" y="2316300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Tito</a:t>
              </a: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Dador de carga</a:t>
              </a:r>
              <a:endParaRPr b="1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t/>
              </a:r>
              <a:endParaRPr b="1" sz="130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7731418" y="2636300"/>
              <a:ext cx="369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5F6B62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rgbClr val="5F6B62"/>
                  </a:solidFill>
                  <a:latin typeface="Calibri"/>
                  <a:ea typeface="Calibri"/>
                  <a:cs typeface="Calibri"/>
                  <a:sym typeface="Calibri"/>
                </a:rPr>
                <a:t>Necesita mover maquinaria entre campos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F6B62"/>
                </a:buClr>
                <a:buSzPts val="1000"/>
                <a:buFont typeface="Calibri"/>
                <a:buNone/>
              </a:pPr>
              <a:r>
                <a:t/>
              </a:r>
              <a:endParaRPr sz="1000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22"/>
          <p:cNvGrpSpPr/>
          <p:nvPr/>
        </p:nvGrpSpPr>
        <p:grpSpPr>
          <a:xfrm>
            <a:off x="4828825" y="3272950"/>
            <a:ext cx="2663100" cy="1171500"/>
            <a:chOff x="4339975" y="5190000"/>
            <a:chExt cx="2663100" cy="1171500"/>
          </a:xfrm>
        </p:grpSpPr>
        <p:sp>
          <p:nvSpPr>
            <p:cNvPr id="353" name="Google Shape;353;p22"/>
            <p:cNvSpPr/>
            <p:nvPr/>
          </p:nvSpPr>
          <p:spPr>
            <a:xfrm>
              <a:off x="4339975" y="5190000"/>
              <a:ext cx="2663100" cy="11715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4541728" y="5395800"/>
              <a:ext cx="22596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4709255" y="5495688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5395288" y="5615700"/>
              <a:ext cx="15321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Ente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con_03.png" id="357" name="Google Shape;35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1522" y="3711304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/>
          <p:nvPr/>
        </p:nvSpPr>
        <p:spPr>
          <a:xfrm>
            <a:off x="18325" y="4347388"/>
            <a:ext cx="45684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Como es PedidosYa para la comida 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Uber para el transporte de personas</a:t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F6B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22"/>
          <p:cNvCxnSpPr>
            <a:endCxn id="353" idx="1"/>
          </p:cNvCxnSpPr>
          <p:nvPr/>
        </p:nvCxnSpPr>
        <p:spPr>
          <a:xfrm>
            <a:off x="2961925" y="2752300"/>
            <a:ext cx="1866900" cy="1106400"/>
          </a:xfrm>
          <a:prstGeom prst="bentConnector3">
            <a:avLst>
              <a:gd fmla="val 7" name="adj1"/>
            </a:avLst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0" name="Google Shape;360;p22"/>
          <p:cNvCxnSpPr>
            <a:stCxn id="345" idx="2"/>
            <a:endCxn id="356" idx="3"/>
          </p:cNvCxnSpPr>
          <p:nvPr/>
        </p:nvCxnSpPr>
        <p:spPr>
          <a:xfrm rot="5400000">
            <a:off x="7870600" y="2508025"/>
            <a:ext cx="896400" cy="1805100"/>
          </a:xfrm>
          <a:prstGeom prst="bentConnector2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61" name="Google Shape;361;p22"/>
          <p:cNvGrpSpPr/>
          <p:nvPr/>
        </p:nvGrpSpPr>
        <p:grpSpPr>
          <a:xfrm>
            <a:off x="3560413" y="5158025"/>
            <a:ext cx="5199900" cy="1171500"/>
            <a:chOff x="4339975" y="5190000"/>
            <a:chExt cx="5199900" cy="1171500"/>
          </a:xfrm>
        </p:grpSpPr>
        <p:sp>
          <p:nvSpPr>
            <p:cNvPr id="362" name="Google Shape;362;p22"/>
            <p:cNvSpPr/>
            <p:nvPr/>
          </p:nvSpPr>
          <p:spPr>
            <a:xfrm>
              <a:off x="4339975" y="5190000"/>
              <a:ext cx="5199900" cy="11715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4627480" y="5401363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4777480" y="5501363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365" name="Google Shape;36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07480" y="5631363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22"/>
            <p:cNvSpPr/>
            <p:nvPr/>
          </p:nvSpPr>
          <p:spPr>
            <a:xfrm>
              <a:off x="5499105" y="5638938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María</a:t>
              </a: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Transportista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67" name="Google Shape;367;p22"/>
          <p:cNvCxnSpPr>
            <a:stCxn id="353" idx="2"/>
            <a:endCxn id="362" idx="0"/>
          </p:cNvCxnSpPr>
          <p:nvPr/>
        </p:nvCxnSpPr>
        <p:spPr>
          <a:xfrm>
            <a:off x="6160375" y="4444450"/>
            <a:ext cx="0" cy="713700"/>
          </a:xfrm>
          <a:prstGeom prst="straightConnector1">
            <a:avLst/>
          </a:prstGeom>
          <a:noFill/>
          <a:ln cap="flat" cmpd="sng" w="25400">
            <a:solidFill>
              <a:srgbClr val="B5502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8" name="Google Shape;368;p22"/>
          <p:cNvSpPr/>
          <p:nvPr/>
        </p:nvSpPr>
        <p:spPr>
          <a:xfrm>
            <a:off x="7734025" y="4347375"/>
            <a:ext cx="45684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Chequea </a:t>
            </a: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vehículos</a:t>
            </a: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disponibles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Elige </a:t>
            </a: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según</a:t>
            </a: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algún</a:t>
            </a: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criterio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F6B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871200" y="3584500"/>
            <a:ext cx="193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Solicitud de viaje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F6B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/>
          <p:nvPr/>
        </p:nvSpPr>
        <p:spPr>
          <a:xfrm>
            <a:off x="9509750" y="3589300"/>
            <a:ext cx="1939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Solicitud de viaje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5F6B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23"/>
          <p:cNvGrpSpPr/>
          <p:nvPr/>
        </p:nvGrpSpPr>
        <p:grpSpPr>
          <a:xfrm>
            <a:off x="3204263" y="1008450"/>
            <a:ext cx="5199900" cy="1171500"/>
            <a:chOff x="4339975" y="5190000"/>
            <a:chExt cx="5199900" cy="1171500"/>
          </a:xfrm>
        </p:grpSpPr>
        <p:sp>
          <p:nvSpPr>
            <p:cNvPr id="376" name="Google Shape;376;p23"/>
            <p:cNvSpPr/>
            <p:nvPr/>
          </p:nvSpPr>
          <p:spPr>
            <a:xfrm>
              <a:off x="4339975" y="5190000"/>
              <a:ext cx="5199900" cy="1171500"/>
            </a:xfrm>
            <a:prstGeom prst="roundRect">
              <a:avLst>
                <a:gd fmla="val 4390" name="adj"/>
              </a:avLst>
            </a:prstGeom>
            <a:solidFill>
              <a:srgbClr val="F1F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3"/>
            <p:cNvSpPr/>
            <p:nvPr/>
          </p:nvSpPr>
          <p:spPr>
            <a:xfrm>
              <a:off x="4627480" y="5401363"/>
              <a:ext cx="4700100" cy="759900"/>
            </a:xfrm>
            <a:prstGeom prst="roundRect">
              <a:avLst>
                <a:gd fmla="val 439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5400000" dist="38100">
                <a:srgbClr val="1E3D2B">
                  <a:alpha val="102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4777480" y="5501363"/>
              <a:ext cx="560100" cy="560100"/>
            </a:xfrm>
            <a:prstGeom prst="ellipse">
              <a:avLst/>
            </a:prstGeom>
            <a:solidFill>
              <a:srgbClr val="E7EE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ersonIcon.png" id="379" name="Google Shape;379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07480" y="5631363"/>
              <a:ext cx="300000" cy="30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23"/>
            <p:cNvSpPr/>
            <p:nvPr/>
          </p:nvSpPr>
          <p:spPr>
            <a:xfrm>
              <a:off x="5499105" y="5638938"/>
              <a:ext cx="3690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3D2B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María</a:t>
              </a:r>
              <a:r>
                <a:rPr b="1" i="0" lang="en-US" sz="1300" u="none" cap="none" strike="noStrike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 · </a:t>
              </a:r>
              <a:r>
                <a:rPr b="1" lang="en-US" sz="1300">
                  <a:solidFill>
                    <a:srgbClr val="1E3D2B"/>
                  </a:solidFill>
                  <a:latin typeface="Calibri"/>
                  <a:ea typeface="Calibri"/>
                  <a:cs typeface="Calibri"/>
                  <a:sym typeface="Calibri"/>
                </a:rPr>
                <a:t>Transportista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23"/>
          <p:cNvSpPr/>
          <p:nvPr/>
        </p:nvSpPr>
        <p:spPr>
          <a:xfrm>
            <a:off x="640080" y="502920"/>
            <a:ext cx="95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CÓMO 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PODRÍA RESOLVERSE</a:t>
            </a: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 · CASO PRÁCTICO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" name="Google Shape;382;p23" title="cb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5485" y="2654225"/>
            <a:ext cx="1203900" cy="187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3" title="bs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5825" y="2744937"/>
            <a:ext cx="1445100" cy="2013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3" title="bs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01075" y="2744937"/>
            <a:ext cx="1445100" cy="20133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23"/>
          <p:cNvCxnSpPr/>
          <p:nvPr/>
        </p:nvCxnSpPr>
        <p:spPr>
          <a:xfrm>
            <a:off x="3093200" y="3585763"/>
            <a:ext cx="1905000" cy="117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6" name="Google Shape;386;p23"/>
          <p:cNvCxnSpPr/>
          <p:nvPr/>
        </p:nvCxnSpPr>
        <p:spPr>
          <a:xfrm>
            <a:off x="6740850" y="3585775"/>
            <a:ext cx="1905000" cy="117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"/>
          <p:cNvSpPr/>
          <p:nvPr/>
        </p:nvSpPr>
        <p:spPr>
          <a:xfrm>
            <a:off x="640080" y="750000"/>
            <a:ext cx="90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SECCIÓN 02 DE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640080" y="1250000"/>
            <a:ext cx="103669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Investigación </a:t>
            </a:r>
            <a:endParaRPr b="1" sz="36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640080" y="2150000"/>
            <a:ext cx="9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9C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De TSP a </a:t>
            </a:r>
            <a:r>
              <a:rPr lang="en-US" sz="1500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VRP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24"/>
          <p:cNvCxnSpPr>
            <a:endCxn id="395" idx="6"/>
          </p:cNvCxnSpPr>
          <p:nvPr/>
        </p:nvCxnSpPr>
        <p:spPr>
          <a:xfrm>
            <a:off x="982880" y="4600000"/>
            <a:ext cx="8750400" cy="0"/>
          </a:xfrm>
          <a:prstGeom prst="straightConnector1">
            <a:avLst/>
          </a:prstGeom>
          <a:noFill/>
          <a:ln cap="flat" cmpd="sng" w="12700">
            <a:solidFill>
              <a:srgbClr val="3A5A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24"/>
          <p:cNvSpPr/>
          <p:nvPr/>
        </p:nvSpPr>
        <p:spPr>
          <a:xfrm>
            <a:off x="7543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2344420" y="4257100"/>
            <a:ext cx="685800" cy="6858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416306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586740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757174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92760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5"/>
          <p:cNvSpPr/>
          <p:nvPr/>
        </p:nvSpPr>
        <p:spPr>
          <a:xfrm>
            <a:off x="640080" y="502920"/>
            <a:ext cx="95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REVISIÓN DE LA LITERATURA · ORÍGENES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Del Problema del Viajante (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TSP</a:t>
            </a: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) al Ruteo de Vehículos (VRP)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40080" y="1750000"/>
            <a:ext cx="1091184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En 1959, Dantzig y Ramser plantearon el problema de asignar una flota de camiones a un conjunto de estaciones de servicio, minimizando la distancia total recorrida.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640080" y="2650000"/>
            <a:ext cx="10911840" cy="17500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>
            <a:off x="970080" y="2870000"/>
            <a:ext cx="20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1959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>
            <a:off x="3150000" y="2880000"/>
            <a:ext cx="81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Truck Dispatching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3150000" y="3330000"/>
            <a:ext cx="81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6C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Dantzig, G. B. y Ramser, J. H. proponen el Problema de Despacho de Camiones [1] — una generalización del TSP que incorpora múltiples vehículos. Hoy lo conocemos como el VRP con Capacidad.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640080" y="4650000"/>
            <a:ext cx="1091184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Desde entonces, la comunidad desarrolló numerosas variantes — con capacidad, ventanas de tiempo, múltiples depósitos — para modelar problemas reales de distribución con mayor fidelidad.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970080" y="6280000"/>
            <a:ext cx="10911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[1] Dantzig, G.B. &amp; Ramser, J.H. (1959). The Truck Dispatching Problem. Management Science, 6(1), 80–91.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"/>
          <p:cNvSpPr/>
          <p:nvPr/>
        </p:nvSpPr>
        <p:spPr>
          <a:xfrm>
            <a:off x="640080" y="502920"/>
            <a:ext cx="9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REVISIÓN DE LA LITERATURA 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· PAPERS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640080" y="841248"/>
            <a:ext cx="10911840" cy="6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Crecimiento de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papers</a:t>
            </a: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sobre VRP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640080" y="1500000"/>
            <a:ext cx="1091184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Cantidad de papers indexados sobre Vehicle Routing Problem, agrupados cada 5 años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221905" y="3604950"/>
            <a:ext cx="909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Papers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26"/>
          <p:cNvCxnSpPr/>
          <p:nvPr/>
        </p:nvCxnSpPr>
        <p:spPr>
          <a:xfrm>
            <a:off x="1550000" y="5750000"/>
            <a:ext cx="1000192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26"/>
          <p:cNvSpPr/>
          <p:nvPr/>
        </p:nvSpPr>
        <p:spPr>
          <a:xfrm>
            <a:off x="640080" y="5620000"/>
            <a:ext cx="8099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26"/>
          <p:cNvCxnSpPr/>
          <p:nvPr/>
        </p:nvCxnSpPr>
        <p:spPr>
          <a:xfrm>
            <a:off x="1550000" y="4800000"/>
            <a:ext cx="1000192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26"/>
          <p:cNvSpPr/>
          <p:nvPr/>
        </p:nvSpPr>
        <p:spPr>
          <a:xfrm>
            <a:off x="640080" y="4670000"/>
            <a:ext cx="8099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5.000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26"/>
          <p:cNvCxnSpPr/>
          <p:nvPr/>
        </p:nvCxnSpPr>
        <p:spPr>
          <a:xfrm>
            <a:off x="1550000" y="3850000"/>
            <a:ext cx="1000192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26"/>
          <p:cNvSpPr/>
          <p:nvPr/>
        </p:nvSpPr>
        <p:spPr>
          <a:xfrm>
            <a:off x="640080" y="3720000"/>
            <a:ext cx="8099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10.000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26"/>
          <p:cNvCxnSpPr/>
          <p:nvPr/>
        </p:nvCxnSpPr>
        <p:spPr>
          <a:xfrm>
            <a:off x="1550000" y="2900000"/>
            <a:ext cx="1000192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26"/>
          <p:cNvSpPr/>
          <p:nvPr/>
        </p:nvSpPr>
        <p:spPr>
          <a:xfrm>
            <a:off x="640080" y="2770000"/>
            <a:ext cx="8099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15.000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26"/>
          <p:cNvCxnSpPr/>
          <p:nvPr/>
        </p:nvCxnSpPr>
        <p:spPr>
          <a:xfrm>
            <a:off x="1550000" y="1950000"/>
            <a:ext cx="10001920" cy="0"/>
          </a:xfrm>
          <a:prstGeom prst="straightConnector1">
            <a:avLst/>
          </a:prstGeom>
          <a:noFill/>
          <a:ln cap="flat" cmpd="sng" w="9525">
            <a:solidFill>
              <a:srgbClr val="DC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26"/>
          <p:cNvSpPr/>
          <p:nvPr/>
        </p:nvSpPr>
        <p:spPr>
          <a:xfrm>
            <a:off x="640080" y="1820000"/>
            <a:ext cx="80992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20.000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1550000" y="5690910"/>
            <a:ext cx="500000" cy="5909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6"/>
          <p:cNvSpPr/>
          <p:nvPr/>
        </p:nvSpPr>
        <p:spPr>
          <a:xfrm>
            <a:off x="1490000" y="543091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311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1490000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1959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2280916" y="5643220"/>
            <a:ext cx="500000" cy="10678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2220916" y="538322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562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2220916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1964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3011833" y="5591350"/>
            <a:ext cx="500000" cy="15865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2951833" y="533135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835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2951833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1969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3742750" y="5535300"/>
            <a:ext cx="500000" cy="2147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3682750" y="52753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1.130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3682750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1974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4473667" y="5457400"/>
            <a:ext cx="500000" cy="2926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4413667" y="51974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1.540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4413667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1979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204584" y="5343400"/>
            <a:ext cx="500000" cy="4066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5144584" y="50834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2.140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"/>
          <p:cNvSpPr/>
          <p:nvPr/>
        </p:nvSpPr>
        <p:spPr>
          <a:xfrm>
            <a:off x="5144584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1984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5935501" y="5100200"/>
            <a:ext cx="500000" cy="6498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5875501" y="48402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3.420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5875501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1989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6666418" y="4838000"/>
            <a:ext cx="500000" cy="9120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6606418" y="45780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4.800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6606418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1994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7397335" y="4277500"/>
            <a:ext cx="500000" cy="14725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7337335" y="40175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7.750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7337335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1999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8128252" y="2976000"/>
            <a:ext cx="500000" cy="27740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8068252" y="27160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14.600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8068252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2004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8859169" y="2482000"/>
            <a:ext cx="500000" cy="32680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8799169" y="22220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17.200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8799169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2009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9590086" y="2349000"/>
            <a:ext cx="500000" cy="34010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9530086" y="20890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17.900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9530086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2014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6"/>
          <p:cNvSpPr/>
          <p:nvPr/>
        </p:nvSpPr>
        <p:spPr>
          <a:xfrm>
            <a:off x="10321003" y="2330000"/>
            <a:ext cx="500100" cy="34200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10261003" y="20700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18.000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10261003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2019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11051920" y="2482000"/>
            <a:ext cx="500000" cy="3268000"/>
          </a:xfrm>
          <a:prstGeom prst="roundRect">
            <a:avLst>
              <a:gd fmla="val 6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10991920" y="2222000"/>
            <a:ext cx="62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17.200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10991920" y="5850000"/>
            <a:ext cx="6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6"/>
          <p:cNvCxnSpPr/>
          <p:nvPr/>
        </p:nvCxnSpPr>
        <p:spPr>
          <a:xfrm>
            <a:off x="1550000" y="5750000"/>
            <a:ext cx="10001920" cy="0"/>
          </a:xfrm>
          <a:prstGeom prst="straightConnector1">
            <a:avLst/>
          </a:prstGeom>
          <a:noFill/>
          <a:ln cap="flat" cmpd="sng" w="15875">
            <a:solidFill>
              <a:srgbClr val="1E3D2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7"/>
          <p:cNvSpPr/>
          <p:nvPr/>
        </p:nvSpPr>
        <p:spPr>
          <a:xfrm>
            <a:off x="640080" y="502920"/>
            <a:ext cx="95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REVISIÓN DE LA LITERATURA · COMPLEJIDAD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Una Complejidad Heredada del TSP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640080" y="1750000"/>
            <a:ext cx="5265920" cy="19500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940080" y="2010000"/>
            <a:ext cx="1650000" cy="420000"/>
          </a:xfrm>
          <a:prstGeom prst="roundRect">
            <a:avLst>
              <a:gd fmla="val 5000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940080" y="2010000"/>
            <a:ext cx="16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NP-HARD [2]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940080" y="2530000"/>
            <a:ext cx="20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TSP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940080" y="2970000"/>
            <a:ext cx="4665920" cy="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El número de rutas posibles crece factorialmente: (n−1)!/2 recorridos distintos para n ciudades. La búsqueda exhaustiva es inviable incluso para instancias moderadas.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6286000" y="1750000"/>
            <a:ext cx="5265920" cy="19500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6586000" y="2010000"/>
            <a:ext cx="2100000" cy="420000"/>
          </a:xfrm>
          <a:prstGeom prst="roundRect">
            <a:avLst>
              <a:gd fmla="val 5000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6586000" y="2010000"/>
            <a:ext cx="21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TAMBIÉN NP-HARD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6586000" y="2530000"/>
            <a:ext cx="20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VRP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6586000" y="2970000"/>
            <a:ext cx="4665920" cy="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Contiene al TSP como caso particular. Cada restricción adicional — capacidad, ventanas de tiempo, múltiples depósitos — extiende aún más esta complejidad.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p27"/>
          <p:cNvCxnSpPr/>
          <p:nvPr/>
        </p:nvCxnSpPr>
        <p:spPr>
          <a:xfrm>
            <a:off x="5966000" y="2725000"/>
            <a:ext cx="2600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2" name="Google Shape;492;p27"/>
          <p:cNvSpPr/>
          <p:nvPr/>
        </p:nvSpPr>
        <p:spPr>
          <a:xfrm>
            <a:off x="640080" y="4050000"/>
            <a:ext cx="10911840" cy="15000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970080" y="4310000"/>
            <a:ext cx="36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(n − 1)! /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970080" y="4880000"/>
            <a:ext cx="36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C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rutas posibles para n ciudades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27"/>
          <p:cNvCxnSpPr/>
          <p:nvPr/>
        </p:nvCxnSpPr>
        <p:spPr>
          <a:xfrm>
            <a:off x="4750000" y="4800000"/>
            <a:ext cx="10000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6" name="Google Shape;496;p27"/>
          <p:cNvSpPr/>
          <p:nvPr/>
        </p:nvSpPr>
        <p:spPr>
          <a:xfrm>
            <a:off x="6000000" y="4260000"/>
            <a:ext cx="53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≈ 43.589 millones de rutas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6000000" y="4910000"/>
            <a:ext cx="53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C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para apenas 15 ciudades a visitar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640080" y="6060000"/>
            <a:ext cx="10911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[2] Karp, R.M. (1972). Reducibility Among Combinatorial Problems. En Complexity of Computer Computations, Plenum Press, pp. 85–103.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8"/>
          <p:cNvSpPr/>
          <p:nvPr/>
        </p:nvSpPr>
        <p:spPr>
          <a:xfrm>
            <a:off x="640080" y="502920"/>
            <a:ext cx="95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REVISIÓN DE LA LITERATURA · COMPLEJIDAD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Una Complejidad Heredada del TSP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640080" y="1750000"/>
            <a:ext cx="5265900" cy="19500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8"/>
          <p:cNvSpPr/>
          <p:nvPr/>
        </p:nvSpPr>
        <p:spPr>
          <a:xfrm>
            <a:off x="940080" y="2010000"/>
            <a:ext cx="1650000" cy="420000"/>
          </a:xfrm>
          <a:prstGeom prst="roundRect">
            <a:avLst>
              <a:gd fmla="val 5000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940080" y="2010000"/>
            <a:ext cx="16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NP-HARD [2]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940080" y="2530000"/>
            <a:ext cx="20001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TSP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940080" y="2970000"/>
            <a:ext cx="4665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El número de rutas posibles crece factorialmente: (n−1)!/2 recorridos distintos para n ciudades. La búsqueda exhaustiva es inviable incluso para instancias moderadas.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6286000" y="1750000"/>
            <a:ext cx="5265900" cy="19500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6586000" y="2010000"/>
            <a:ext cx="2100000" cy="420000"/>
          </a:xfrm>
          <a:prstGeom prst="roundRect">
            <a:avLst>
              <a:gd fmla="val 50000" name="adj"/>
            </a:avLst>
          </a:prstGeom>
          <a:solidFill>
            <a:srgbClr val="B55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8"/>
          <p:cNvSpPr/>
          <p:nvPr/>
        </p:nvSpPr>
        <p:spPr>
          <a:xfrm>
            <a:off x="6586000" y="2010000"/>
            <a:ext cx="21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TAMBIÉN NP-HARD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6586000" y="2530000"/>
            <a:ext cx="20001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VRP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6586000" y="2970000"/>
            <a:ext cx="4665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Contiene al TSP como caso particular. Cada restricción adicional — capacidad, ventanas de tiempo, múltiples depósitos — extiende aún más esta complejidad.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5" name="Google Shape;515;p28"/>
          <p:cNvCxnSpPr/>
          <p:nvPr/>
        </p:nvCxnSpPr>
        <p:spPr>
          <a:xfrm>
            <a:off x="5966000" y="2725000"/>
            <a:ext cx="2601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6" name="Google Shape;516;p28"/>
          <p:cNvSpPr/>
          <p:nvPr/>
        </p:nvSpPr>
        <p:spPr>
          <a:xfrm>
            <a:off x="640080" y="4050000"/>
            <a:ext cx="10911900" cy="15000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970080" y="4310000"/>
            <a:ext cx="360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(n − 1)! /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970080" y="4880000"/>
            <a:ext cx="36000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C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rutas posibles para n ciudades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9" name="Google Shape;519;p28"/>
          <p:cNvCxnSpPr/>
          <p:nvPr/>
        </p:nvCxnSpPr>
        <p:spPr>
          <a:xfrm>
            <a:off x="4750000" y="4800000"/>
            <a:ext cx="9999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28"/>
          <p:cNvSpPr/>
          <p:nvPr/>
        </p:nvSpPr>
        <p:spPr>
          <a:xfrm>
            <a:off x="6000000" y="4260000"/>
            <a:ext cx="5300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≈ 43.589 millones de rutas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6000000" y="4910000"/>
            <a:ext cx="53001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C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para apenas 15 ciudades a visitar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640080" y="6060000"/>
            <a:ext cx="10911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[2] Karp, R.M. (1972). Reducibility Among Combinatorial Problems. En Complexity of Computer Computations, Plenum Press, pp. 85–103.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3" name="Google Shape;523;p28"/>
          <p:cNvGrpSpPr/>
          <p:nvPr/>
        </p:nvGrpSpPr>
        <p:grpSpPr>
          <a:xfrm>
            <a:off x="1553768" y="1819876"/>
            <a:ext cx="9084479" cy="4447181"/>
            <a:chOff x="1924450" y="1885550"/>
            <a:chExt cx="7425600" cy="3635100"/>
          </a:xfrm>
        </p:grpSpPr>
        <p:sp>
          <p:nvSpPr>
            <p:cNvPr id="524" name="Google Shape;524;p28"/>
            <p:cNvSpPr/>
            <p:nvPr/>
          </p:nvSpPr>
          <p:spPr>
            <a:xfrm>
              <a:off x="1924450" y="1885550"/>
              <a:ext cx="7425600" cy="3635100"/>
            </a:xfrm>
            <a:prstGeom prst="roundRect">
              <a:avLst>
                <a:gd fmla="val 2069" name="adj"/>
              </a:avLst>
            </a:prstGeom>
            <a:solidFill>
              <a:srgbClr val="B5502C"/>
            </a:solidFill>
            <a:ln>
              <a:noFill/>
            </a:ln>
            <a:effectLst>
              <a:outerShdw blurRad="124296" rotWithShape="0" algn="bl" dir="5400000" dist="46611">
                <a:srgbClr val="1E3D2B">
                  <a:alpha val="10200"/>
                </a:srgbClr>
              </a:outerShdw>
            </a:effectLst>
          </p:spPr>
          <p:txBody>
            <a:bodyPr anchorCtr="0" anchor="ctr" bIns="111850" lIns="111850" spcFirstLastPara="1" rIns="111850" wrap="square" tIns="111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5" name="Google Shape;525;p28" title="7febd8cf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2413" y="2250588"/>
              <a:ext cx="6569667" cy="2905025"/>
            </a:xfrm>
            <a:prstGeom prst="rect">
              <a:avLst/>
            </a:prstGeom>
            <a:solidFill>
              <a:srgbClr val="B5502C"/>
            </a:solidFill>
            <a:ln>
              <a:noFill/>
            </a:ln>
            <a:effectLst>
              <a:outerShdw blurRad="124296" rotWithShape="0" algn="bl" dir="5400000" dist="46611">
                <a:srgbClr val="1E3D2B">
                  <a:alpha val="10200"/>
                </a:srgbClr>
              </a:outerShdw>
            </a:effectLst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9"/>
          <p:cNvSpPr/>
          <p:nvPr/>
        </p:nvSpPr>
        <p:spPr>
          <a:xfrm>
            <a:off x="640080" y="502920"/>
            <a:ext cx="95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REVISIÓN DE LA LITERATURA · ESTRATEGIAS DE RESOLUCIÓN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9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Estrategias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de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Resolución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9"/>
          <p:cNvSpPr/>
          <p:nvPr/>
        </p:nvSpPr>
        <p:spPr>
          <a:xfrm>
            <a:off x="640080" y="1750000"/>
            <a:ext cx="1091184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Decir que un problema es un VRP nos da un modelo — nos dice </a:t>
            </a:r>
            <a:r>
              <a:rPr lang="en-US" sz="1350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que</a:t>
            </a:r>
            <a:r>
              <a:rPr b="0" i="0" lang="en-US" sz="13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 hay que optimizar. Pero no nos dice cómo resolverlo. Y como el VRP es NP-Hard, no existe un algoritmo que garantice la solución óptima en tiempo razonable para instancias grandes.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9"/>
          <p:cNvSpPr/>
          <p:nvPr/>
        </p:nvSpPr>
        <p:spPr>
          <a:xfrm>
            <a:off x="640080" y="2781500"/>
            <a:ext cx="3517200" cy="21501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9"/>
          <p:cNvSpPr/>
          <p:nvPr/>
        </p:nvSpPr>
        <p:spPr>
          <a:xfrm>
            <a:off x="940080" y="3061500"/>
            <a:ext cx="639900" cy="6399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-calculator.png" id="535" name="Google Shape;53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080" y="3211500"/>
            <a:ext cx="340000" cy="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9"/>
          <p:cNvSpPr/>
          <p:nvPr/>
        </p:nvSpPr>
        <p:spPr>
          <a:xfrm>
            <a:off x="940080" y="3861500"/>
            <a:ext cx="2917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Métodos exactos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9"/>
          <p:cNvSpPr/>
          <p:nvPr/>
        </p:nvSpPr>
        <p:spPr>
          <a:xfrm>
            <a:off x="940080" y="4261500"/>
            <a:ext cx="2917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MILP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9"/>
          <p:cNvSpPr/>
          <p:nvPr/>
        </p:nvSpPr>
        <p:spPr>
          <a:xfrm>
            <a:off x="940080" y="4561500"/>
            <a:ext cx="29172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Garantizan la solución óptima, al costo de tiempo de cómputo.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4337360" y="2781500"/>
            <a:ext cx="3517200" cy="21501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4637360" y="3061500"/>
            <a:ext cx="639900" cy="6399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-bolt.png" id="541" name="Google Shape;54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7360" y="3211500"/>
            <a:ext cx="340000" cy="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9"/>
          <p:cNvSpPr/>
          <p:nvPr/>
        </p:nvSpPr>
        <p:spPr>
          <a:xfrm>
            <a:off x="4637360" y="3861500"/>
            <a:ext cx="2917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Heurísticas constructivas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4637360" y="4261500"/>
            <a:ext cx="2917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Nearest Neighbor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4637360" y="4561500"/>
            <a:ext cx="29172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Rápidas, pero sin ninguna garantía de calidad.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/>
          <p:nvPr/>
        </p:nvSpPr>
        <p:spPr>
          <a:xfrm>
            <a:off x="8034640" y="2781500"/>
            <a:ext cx="3517200" cy="2150100"/>
          </a:xfrm>
          <a:prstGeom prst="roundRect">
            <a:avLst>
              <a:gd fmla="val 439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9"/>
          <p:cNvSpPr/>
          <p:nvPr/>
        </p:nvSpPr>
        <p:spPr>
          <a:xfrm>
            <a:off x="8334640" y="3061500"/>
            <a:ext cx="639900" cy="6399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-shuffle.png" id="547" name="Google Shape;54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4640" y="3211500"/>
            <a:ext cx="340000" cy="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9"/>
          <p:cNvSpPr/>
          <p:nvPr/>
        </p:nvSpPr>
        <p:spPr>
          <a:xfrm>
            <a:off x="8334640" y="3861500"/>
            <a:ext cx="29172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Metaheurísticas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8334640" y="4261500"/>
            <a:ext cx="2917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Ant Colony 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8334650" y="4561500"/>
            <a:ext cx="30606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Buscan un punto intermedio entre velocidad y calidad.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640080" y="5700000"/>
            <a:ext cx="1091184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Cada familia ofrece un compromiso distinto entre velocidad y calidad de solución — y esta tensión motiva el desarrollo de heurísticas y metaheurísticas para instancias de tamaño real.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0"/>
          <p:cNvSpPr/>
          <p:nvPr/>
        </p:nvSpPr>
        <p:spPr>
          <a:xfrm>
            <a:off x="640080" y="502920"/>
            <a:ext cx="9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REVISIÓN DE LA LITERATURA 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· PAPERS RELACIONADOS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0"/>
          <p:cNvSpPr/>
          <p:nvPr/>
        </p:nvSpPr>
        <p:spPr>
          <a:xfrm>
            <a:off x="640080" y="841248"/>
            <a:ext cx="10911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¿De donde partimos?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0"/>
          <p:cNvSpPr/>
          <p:nvPr/>
        </p:nvSpPr>
        <p:spPr>
          <a:xfrm>
            <a:off x="640080" y="1500000"/>
            <a:ext cx="10911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¿Hay algo parecido </a:t>
            </a:r>
            <a:r>
              <a:rPr lang="en-US" sz="1300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desarrollado</a:t>
            </a:r>
            <a:r>
              <a:rPr lang="en-US" sz="1300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0"/>
          <p:cNvSpPr/>
          <p:nvPr/>
        </p:nvSpPr>
        <p:spPr>
          <a:xfrm>
            <a:off x="466500" y="1928550"/>
            <a:ext cx="10959000" cy="46611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0" name="Google Shape;560;p30" title="Screenshot from 2026-07-08 10-17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270" y="2329250"/>
            <a:ext cx="2987425" cy="3684301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0"/>
          <p:cNvSpPr/>
          <p:nvPr/>
        </p:nvSpPr>
        <p:spPr>
          <a:xfrm>
            <a:off x="1872291" y="6162200"/>
            <a:ext cx="2987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Bakhtiari, Navid, Mehri, Bochtis - 2011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0" title="ChatGPT Image 8 jul 2026, 10_23_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9513" y="2321175"/>
            <a:ext cx="2987426" cy="3700457"/>
          </a:xfrm>
          <a:prstGeom prst="rect">
            <a:avLst/>
          </a:prstGeom>
          <a:solidFill>
            <a:srgbClr val="1E3D2B"/>
          </a:solidFill>
          <a:ln>
            <a:noFill/>
          </a:ln>
        </p:spPr>
      </p:pic>
      <p:sp>
        <p:nvSpPr>
          <p:cNvPr id="563" name="Google Shape;563;p30"/>
          <p:cNvSpPr/>
          <p:nvPr/>
        </p:nvSpPr>
        <p:spPr>
          <a:xfrm>
            <a:off x="7249550" y="6162200"/>
            <a:ext cx="2987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Gracia, Diezma-Iglesias, Barreiro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- 2013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0"/>
          <p:cNvSpPr/>
          <p:nvPr/>
        </p:nvSpPr>
        <p:spPr>
          <a:xfrm>
            <a:off x="892775" y="4112850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ACO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0"/>
          <p:cNvSpPr/>
          <p:nvPr/>
        </p:nvSpPr>
        <p:spPr>
          <a:xfrm>
            <a:off x="6517200" y="4112850"/>
            <a:ext cx="438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VRP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1"/>
          <p:cNvSpPr/>
          <p:nvPr/>
        </p:nvSpPr>
        <p:spPr>
          <a:xfrm>
            <a:off x="669230" y="493220"/>
            <a:ext cx="9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REVISIÓN DE LA LITERATURA 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ABSTRACCIÓN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1"/>
          <p:cNvSpPr/>
          <p:nvPr/>
        </p:nvSpPr>
        <p:spPr>
          <a:xfrm>
            <a:off x="669230" y="831548"/>
            <a:ext cx="10911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¿De donde partimos?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1"/>
          <p:cNvSpPr/>
          <p:nvPr/>
        </p:nvSpPr>
        <p:spPr>
          <a:xfrm>
            <a:off x="669230" y="1490300"/>
            <a:ext cx="109119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¿Hay algo parecido desarrollado?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1"/>
          <p:cNvSpPr/>
          <p:nvPr/>
        </p:nvSpPr>
        <p:spPr>
          <a:xfrm>
            <a:off x="420125" y="1889675"/>
            <a:ext cx="10959000" cy="4661100"/>
          </a:xfrm>
          <a:prstGeom prst="roundRect">
            <a:avLst>
              <a:gd fmla="val 6000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4" name="Google Shape;574;p31" title="ChatGPT Image 8 jul 2026, 10_35_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115" y="2544986"/>
            <a:ext cx="3931813" cy="3271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title="ChatGPT Image 8 jul 2026, 10_35_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4865" y="2544986"/>
            <a:ext cx="3931813" cy="3271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31"/>
          <p:cNvCxnSpPr>
            <a:stCxn id="574" idx="3"/>
            <a:endCxn id="575" idx="1"/>
          </p:cNvCxnSpPr>
          <p:nvPr/>
        </p:nvCxnSpPr>
        <p:spPr>
          <a:xfrm>
            <a:off x="5039928" y="4180618"/>
            <a:ext cx="2025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31"/>
          <p:cNvSpPr/>
          <p:nvPr/>
        </p:nvSpPr>
        <p:spPr>
          <a:xfrm>
            <a:off x="5396250" y="3888125"/>
            <a:ext cx="139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ABSTRACCIÓN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1250400" y="3576725"/>
            <a:ext cx="573300" cy="555300"/>
          </a:xfrm>
          <a:prstGeom prst="flowChartConnector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4270025" y="4088725"/>
            <a:ext cx="573300" cy="555300"/>
          </a:xfrm>
          <a:prstGeom prst="flowChartConnector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" name="Google Shape;580;p31"/>
          <p:cNvCxnSpPr>
            <a:stCxn id="578" idx="7"/>
            <a:endCxn id="574" idx="0"/>
          </p:cNvCxnSpPr>
          <p:nvPr/>
        </p:nvCxnSpPr>
        <p:spPr>
          <a:xfrm flipH="1" rot="10800000">
            <a:off x="1739742" y="2545047"/>
            <a:ext cx="1334400" cy="1113000"/>
          </a:xfrm>
          <a:prstGeom prst="straightConnector1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31"/>
          <p:cNvCxnSpPr>
            <a:endCxn id="574" idx="0"/>
          </p:cNvCxnSpPr>
          <p:nvPr/>
        </p:nvCxnSpPr>
        <p:spPr>
          <a:xfrm rot="10800000">
            <a:off x="3074022" y="2544986"/>
            <a:ext cx="1494000" cy="1537200"/>
          </a:xfrm>
          <a:prstGeom prst="straightConnector1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2" name="Google Shape;582;p31"/>
          <p:cNvSpPr/>
          <p:nvPr/>
        </p:nvSpPr>
        <p:spPr>
          <a:xfrm>
            <a:off x="2322950" y="2174400"/>
            <a:ext cx="180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DADORES DE CARGA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1"/>
          <p:cNvSpPr/>
          <p:nvPr/>
        </p:nvSpPr>
        <p:spPr>
          <a:xfrm>
            <a:off x="10266100" y="4088725"/>
            <a:ext cx="573300" cy="555300"/>
          </a:xfrm>
          <a:prstGeom prst="flowChartConnector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7268063" y="3576725"/>
            <a:ext cx="573300" cy="555300"/>
          </a:xfrm>
          <a:prstGeom prst="flowChartConnector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Google Shape;585;p31"/>
          <p:cNvCxnSpPr/>
          <p:nvPr/>
        </p:nvCxnSpPr>
        <p:spPr>
          <a:xfrm flipH="1" rot="10800000">
            <a:off x="7733492" y="2544972"/>
            <a:ext cx="1334400" cy="1113000"/>
          </a:xfrm>
          <a:prstGeom prst="straightConnector1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p31"/>
          <p:cNvCxnSpPr/>
          <p:nvPr/>
        </p:nvCxnSpPr>
        <p:spPr>
          <a:xfrm rot="10800000">
            <a:off x="9067897" y="2544986"/>
            <a:ext cx="1494000" cy="1537200"/>
          </a:xfrm>
          <a:prstGeom prst="straightConnector1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31"/>
          <p:cNvSpPr/>
          <p:nvPr/>
        </p:nvSpPr>
        <p:spPr>
          <a:xfrm>
            <a:off x="8748950" y="2174400"/>
            <a:ext cx="10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2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2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De TSP a una Variante a Medida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para el Agro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640080" y="2148840"/>
            <a:ext cx="1627632" cy="105156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2"/>
          <p:cNvSpPr/>
          <p:nvPr/>
        </p:nvSpPr>
        <p:spPr>
          <a:xfrm>
            <a:off x="640080" y="231343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TSP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2"/>
          <p:cNvSpPr/>
          <p:nvPr/>
        </p:nvSpPr>
        <p:spPr>
          <a:xfrm>
            <a:off x="713232" y="267919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Un vehículo,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un circuito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8" name="Google Shape;598;p32"/>
          <p:cNvCxnSpPr/>
          <p:nvPr/>
        </p:nvCxnSpPr>
        <p:spPr>
          <a:xfrm>
            <a:off x="2267712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9" name="Google Shape;599;p32"/>
          <p:cNvSpPr/>
          <p:nvPr/>
        </p:nvSpPr>
        <p:spPr>
          <a:xfrm>
            <a:off x="2953512" y="2148840"/>
            <a:ext cx="1627632" cy="105156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2953512" y="231343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VRP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3026664" y="267919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Múltiples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vehículos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32"/>
          <p:cNvCxnSpPr/>
          <p:nvPr/>
        </p:nvCxnSpPr>
        <p:spPr>
          <a:xfrm>
            <a:off x="4581144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3" name="Google Shape;603;p32"/>
          <p:cNvSpPr/>
          <p:nvPr/>
        </p:nvSpPr>
        <p:spPr>
          <a:xfrm>
            <a:off x="5266944" y="2148840"/>
            <a:ext cx="1627632" cy="105156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2"/>
          <p:cNvSpPr/>
          <p:nvPr/>
        </p:nvSpPr>
        <p:spPr>
          <a:xfrm>
            <a:off x="5266944" y="231343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CVRP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5340096" y="267919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+ Capacidad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vehicular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32"/>
          <p:cNvCxnSpPr/>
          <p:nvPr/>
        </p:nvCxnSpPr>
        <p:spPr>
          <a:xfrm>
            <a:off x="6894576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7" name="Google Shape;607;p32"/>
          <p:cNvSpPr/>
          <p:nvPr/>
        </p:nvSpPr>
        <p:spPr>
          <a:xfrm>
            <a:off x="7580376" y="2148840"/>
            <a:ext cx="1627632" cy="105156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2"/>
          <p:cNvSpPr/>
          <p:nvPr/>
        </p:nvSpPr>
        <p:spPr>
          <a:xfrm>
            <a:off x="7580376" y="231343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VRP-TW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2"/>
          <p:cNvSpPr/>
          <p:nvPr/>
        </p:nvSpPr>
        <p:spPr>
          <a:xfrm>
            <a:off x="7653528" y="267919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+ Ventanas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 tiempo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p32"/>
          <p:cNvCxnSpPr/>
          <p:nvPr/>
        </p:nvCxnSpPr>
        <p:spPr>
          <a:xfrm>
            <a:off x="9208008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1" name="Google Shape;611;p32"/>
          <p:cNvSpPr/>
          <p:nvPr/>
        </p:nvSpPr>
        <p:spPr>
          <a:xfrm>
            <a:off x="9893808" y="2148840"/>
            <a:ext cx="1627632" cy="105156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2"/>
          <p:cNvSpPr/>
          <p:nvPr/>
        </p:nvSpPr>
        <p:spPr>
          <a:xfrm>
            <a:off x="9893808" y="2313432"/>
            <a:ext cx="1627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MD-CVRP-TW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9966960" y="2679192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+ Múltiples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depósitos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32"/>
          <p:cNvCxnSpPr/>
          <p:nvPr/>
        </p:nvCxnSpPr>
        <p:spPr>
          <a:xfrm>
            <a:off x="10707614" y="3259838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5" name="Google Shape;615;p32"/>
          <p:cNvSpPr/>
          <p:nvPr/>
        </p:nvSpPr>
        <p:spPr>
          <a:xfrm>
            <a:off x="640080" y="3886200"/>
            <a:ext cx="10881360" cy="141732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2"/>
          <p:cNvSpPr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+ Flota heterogénea (Qₖ, Fₖ)   ·   + Tamaño de flota como decisión   ·   + Rutas abiertas (Retₖ ≠ Depotₖ)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1097280" y="44531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HFV-MD-O-CVRP-TW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2"/>
          <p:cNvSpPr/>
          <p:nvPr/>
        </p:nvSpPr>
        <p:spPr>
          <a:xfrm>
            <a:off x="1097280" y="4928616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C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Heterogeneous Fixed Plus Variable Cost Multi-Depot Open VRP with Time Windows </a:t>
            </a:r>
            <a:r>
              <a:rPr i="1" lang="en-US" sz="1050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and capacity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3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De TSP a una Variante a Medida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para el Agro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3"/>
          <p:cNvSpPr/>
          <p:nvPr/>
        </p:nvSpPr>
        <p:spPr>
          <a:xfrm>
            <a:off x="640080" y="2148840"/>
            <a:ext cx="1627500" cy="105150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3"/>
          <p:cNvSpPr/>
          <p:nvPr/>
        </p:nvSpPr>
        <p:spPr>
          <a:xfrm>
            <a:off x="640080" y="2313432"/>
            <a:ext cx="162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TSP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3"/>
          <p:cNvSpPr/>
          <p:nvPr/>
        </p:nvSpPr>
        <p:spPr>
          <a:xfrm>
            <a:off x="713232" y="2679192"/>
            <a:ext cx="14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Un vehículo,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un circuito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9" name="Google Shape;629;p33"/>
          <p:cNvCxnSpPr/>
          <p:nvPr/>
        </p:nvCxnSpPr>
        <p:spPr>
          <a:xfrm>
            <a:off x="2267712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0" name="Google Shape;630;p33"/>
          <p:cNvSpPr/>
          <p:nvPr/>
        </p:nvSpPr>
        <p:spPr>
          <a:xfrm>
            <a:off x="2953512" y="2148840"/>
            <a:ext cx="1627500" cy="105150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3"/>
          <p:cNvSpPr/>
          <p:nvPr/>
        </p:nvSpPr>
        <p:spPr>
          <a:xfrm>
            <a:off x="2953512" y="2313432"/>
            <a:ext cx="162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VRP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3"/>
          <p:cNvSpPr/>
          <p:nvPr/>
        </p:nvSpPr>
        <p:spPr>
          <a:xfrm>
            <a:off x="3026664" y="2679192"/>
            <a:ext cx="14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Múltiples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vehículos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3" name="Google Shape;633;p33"/>
          <p:cNvCxnSpPr/>
          <p:nvPr/>
        </p:nvCxnSpPr>
        <p:spPr>
          <a:xfrm>
            <a:off x="4581144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4" name="Google Shape;634;p33"/>
          <p:cNvSpPr/>
          <p:nvPr/>
        </p:nvSpPr>
        <p:spPr>
          <a:xfrm>
            <a:off x="5266944" y="2148840"/>
            <a:ext cx="1627500" cy="105150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3"/>
          <p:cNvSpPr/>
          <p:nvPr/>
        </p:nvSpPr>
        <p:spPr>
          <a:xfrm>
            <a:off x="5266944" y="2313432"/>
            <a:ext cx="162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CVRP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5340096" y="2679192"/>
            <a:ext cx="14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+ Capacidad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vehicular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7" name="Google Shape;637;p33"/>
          <p:cNvCxnSpPr/>
          <p:nvPr/>
        </p:nvCxnSpPr>
        <p:spPr>
          <a:xfrm>
            <a:off x="6894576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8" name="Google Shape;638;p33"/>
          <p:cNvSpPr/>
          <p:nvPr/>
        </p:nvSpPr>
        <p:spPr>
          <a:xfrm>
            <a:off x="7580376" y="2148840"/>
            <a:ext cx="1627500" cy="105150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3"/>
          <p:cNvSpPr/>
          <p:nvPr/>
        </p:nvSpPr>
        <p:spPr>
          <a:xfrm>
            <a:off x="7580376" y="2313432"/>
            <a:ext cx="162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VRP-TW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7653528" y="2679192"/>
            <a:ext cx="14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+ Ventanas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 tiempo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1" name="Google Shape;641;p33"/>
          <p:cNvCxnSpPr/>
          <p:nvPr/>
        </p:nvCxnSpPr>
        <p:spPr>
          <a:xfrm>
            <a:off x="9208008" y="267462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2" name="Google Shape;642;p33"/>
          <p:cNvSpPr/>
          <p:nvPr/>
        </p:nvSpPr>
        <p:spPr>
          <a:xfrm>
            <a:off x="9893808" y="2148840"/>
            <a:ext cx="1627500" cy="1051500"/>
          </a:xfrm>
          <a:prstGeom prst="roundRect">
            <a:avLst>
              <a:gd fmla="val 6957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3"/>
          <p:cNvSpPr/>
          <p:nvPr/>
        </p:nvSpPr>
        <p:spPr>
          <a:xfrm>
            <a:off x="9893808" y="2313432"/>
            <a:ext cx="162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MD-CVRP-TW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3"/>
          <p:cNvSpPr/>
          <p:nvPr/>
        </p:nvSpPr>
        <p:spPr>
          <a:xfrm>
            <a:off x="9966960" y="2679192"/>
            <a:ext cx="14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+ Múltiples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depósitos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33"/>
          <p:cNvCxnSpPr/>
          <p:nvPr/>
        </p:nvCxnSpPr>
        <p:spPr>
          <a:xfrm>
            <a:off x="10707614" y="3259838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6" name="Google Shape;646;p33"/>
          <p:cNvSpPr/>
          <p:nvPr/>
        </p:nvSpPr>
        <p:spPr>
          <a:xfrm>
            <a:off x="640080" y="3886200"/>
            <a:ext cx="10881300" cy="14172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3"/>
          <p:cNvSpPr/>
          <p:nvPr/>
        </p:nvSpPr>
        <p:spPr>
          <a:xfrm>
            <a:off x="1097280" y="4069080"/>
            <a:ext cx="996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+ Flota heterogénea (Qₖ, Fₖ)   ·   + Tamaño de flota como decisión   ·   + Rutas abiertas (Retₖ ≠ Depotₖ)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3"/>
          <p:cNvSpPr/>
          <p:nvPr/>
        </p:nvSpPr>
        <p:spPr>
          <a:xfrm>
            <a:off x="1097280" y="44531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HFV-MD-O-CVRP-TW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1097280" y="4928616"/>
            <a:ext cx="960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C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Heterogeneous Fixed Plus Variable Cost Multi-Depot Open VRP with Time Windows </a:t>
            </a:r>
            <a:r>
              <a:rPr i="1" lang="en-US" sz="1050">
                <a:solidFill>
                  <a:srgbClr val="C7D6CB"/>
                </a:solidFill>
                <a:latin typeface="Calibri"/>
                <a:ea typeface="Calibri"/>
                <a:cs typeface="Calibri"/>
                <a:sym typeface="Calibri"/>
              </a:rPr>
              <a:t>and capacity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33" title="fldsmdfr-cloudy-meatball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575" y="1821200"/>
            <a:ext cx="6962162" cy="4082925"/>
          </a:xfrm>
          <a:prstGeom prst="rect">
            <a:avLst/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4"/>
          <p:cNvSpPr/>
          <p:nvPr/>
        </p:nvSpPr>
        <p:spPr>
          <a:xfrm>
            <a:off x="640080" y="750000"/>
            <a:ext cx="90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SECCIÓN 03 DE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640080" y="1250000"/>
            <a:ext cx="103669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Modelar el problema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4"/>
          <p:cNvSpPr/>
          <p:nvPr/>
        </p:nvSpPr>
        <p:spPr>
          <a:xfrm>
            <a:off x="640080" y="2150000"/>
            <a:ext cx="9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9C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La formalización matemática de las restricciones que enfrenta el transporte de maquinaria agrícola.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" name="Google Shape;658;p34"/>
          <p:cNvCxnSpPr>
            <a:endCxn id="659" idx="6"/>
          </p:cNvCxnSpPr>
          <p:nvPr/>
        </p:nvCxnSpPr>
        <p:spPr>
          <a:xfrm>
            <a:off x="982880" y="4600000"/>
            <a:ext cx="8750400" cy="0"/>
          </a:xfrm>
          <a:prstGeom prst="straightConnector1">
            <a:avLst/>
          </a:prstGeom>
          <a:noFill/>
          <a:ln cap="flat" cmpd="sng" w="12700">
            <a:solidFill>
              <a:srgbClr val="3A5A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p34"/>
          <p:cNvSpPr/>
          <p:nvPr/>
        </p:nvSpPr>
        <p:spPr>
          <a:xfrm>
            <a:off x="7543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4"/>
          <p:cNvSpPr/>
          <p:nvPr/>
        </p:nvSpPr>
        <p:spPr>
          <a:xfrm>
            <a:off x="245872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4"/>
          <p:cNvSpPr/>
          <p:nvPr/>
        </p:nvSpPr>
        <p:spPr>
          <a:xfrm>
            <a:off x="4048760" y="4257100"/>
            <a:ext cx="685800" cy="6858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4"/>
          <p:cNvSpPr/>
          <p:nvPr/>
        </p:nvSpPr>
        <p:spPr>
          <a:xfrm>
            <a:off x="586740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757174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92760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5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EL MODELO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Función Objetivo: Distancia Recorrida + Costo Fijo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640080" y="1874520"/>
            <a:ext cx="5257800" cy="1920300"/>
          </a:xfrm>
          <a:prstGeom prst="roundRect">
            <a:avLst>
              <a:gd fmla="val 4286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960120" y="2148840"/>
            <a:ext cx="512100" cy="5121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route_forest.png" id="674" name="Google Shape;6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" y="226405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5"/>
          <p:cNvSpPr/>
          <p:nvPr/>
        </p:nvSpPr>
        <p:spPr>
          <a:xfrm>
            <a:off x="1645920" y="2167128"/>
            <a:ext cx="397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Distancia total recorrida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960120" y="2743200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 Σ  </a:t>
            </a:r>
            <a:r>
              <a:rPr b="0" baseline="-25000" i="0" lang="en-US" sz="1200" u="none" cap="none" strike="noStrike">
                <a:solidFill>
                  <a:srgbClr val="5F6B62"/>
                </a:solidFill>
                <a:latin typeface="Cambria"/>
                <a:ea typeface="Cambria"/>
                <a:cs typeface="Cambria"/>
                <a:sym typeface="Cambria"/>
              </a:rPr>
              <a:t>k∈V</a:t>
            </a:r>
            <a:r>
              <a:rPr b="0" i="0" lang="en-US" sz="2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Σ </a:t>
            </a:r>
            <a:r>
              <a:rPr b="0" baseline="-25000" i="0" lang="en-US" sz="1200" u="none" cap="none" strike="noStrike">
                <a:solidFill>
                  <a:srgbClr val="5F6B62"/>
                </a:solidFill>
                <a:latin typeface="Cambria"/>
                <a:ea typeface="Cambria"/>
                <a:cs typeface="Cambria"/>
                <a:sym typeface="Cambria"/>
              </a:rPr>
              <a:t>i,j∈N</a:t>
            </a:r>
            <a:r>
              <a:rPr b="0" i="1" lang="en-US" sz="18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  d</a:t>
            </a:r>
            <a:r>
              <a:rPr b="0" baseline="-25000" i="1" lang="en-US" sz="12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r>
              <a:rPr b="0" i="1" lang="en-US" sz="18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 x</a:t>
            </a:r>
            <a:r>
              <a:rPr b="0" baseline="30000" i="1" lang="en-US" sz="12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="0" baseline="-25000" i="1" lang="en-US" sz="12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960120" y="3246120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Los transportistas cobran por kilómetro: menos distancia es menos costo, menos desgaste y menos emisiones.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6263640" y="1874520"/>
            <a:ext cx="5257800" cy="1920300"/>
          </a:xfrm>
          <a:prstGeom prst="roundRect">
            <a:avLst>
              <a:gd fmla="val 4286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5"/>
          <p:cNvSpPr/>
          <p:nvPr/>
        </p:nvSpPr>
        <p:spPr>
          <a:xfrm>
            <a:off x="6583680" y="2148840"/>
            <a:ext cx="512100" cy="5121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truck_forest.png" id="680" name="Google Shape;68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8894" y="2264054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5"/>
          <p:cNvSpPr/>
          <p:nvPr/>
        </p:nvSpPr>
        <p:spPr>
          <a:xfrm>
            <a:off x="7269480" y="2167128"/>
            <a:ext cx="397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Costo fijo por vehículo activo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6583680" y="2743200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 Σ  </a:t>
            </a:r>
            <a:r>
              <a:rPr b="0" baseline="-25000" i="0" lang="en-US" sz="1200" u="none" cap="none" strike="noStrike">
                <a:solidFill>
                  <a:srgbClr val="5F6B62"/>
                </a:solidFill>
                <a:latin typeface="Cambria"/>
                <a:ea typeface="Cambria"/>
                <a:cs typeface="Cambria"/>
                <a:sym typeface="Cambria"/>
              </a:rPr>
              <a:t>k∈V</a:t>
            </a:r>
            <a:r>
              <a:rPr b="0" i="1" lang="en-US" sz="18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  F</a:t>
            </a:r>
            <a:r>
              <a:rPr b="0" baseline="-25000" i="1" lang="en-US" sz="12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="0" i="1" lang="en-US" sz="18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 u</a:t>
            </a:r>
            <a:r>
              <a:rPr b="0" baseline="30000" i="1" lang="en-US" sz="1200" u="none" cap="none" strike="noStrike">
                <a:solidFill>
                  <a:srgbClr val="232323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6583680" y="3246120"/>
            <a:ext cx="461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Cada vehículo incorporado a la solución paga un arranque fijo: se desincentiva contratar transportistas de más.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640080" y="4114800"/>
            <a:ext cx="10881300" cy="14172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5"/>
          <p:cNvSpPr/>
          <p:nvPr/>
        </p:nvSpPr>
        <p:spPr>
          <a:xfrm>
            <a:off x="1005840" y="427939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NOTACIÓN CLAVE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1005840" y="4645152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i="0" lang="en-US" sz="17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V, C, 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1005840" y="4974336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vehículos, clientes, nodos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5"/>
          <p:cNvSpPr/>
          <p:nvPr/>
        </p:nvSpPr>
        <p:spPr>
          <a:xfrm>
            <a:off x="3543300" y="4645152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i="0" lang="en-US" sz="17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Fₖ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5"/>
          <p:cNvSpPr/>
          <p:nvPr/>
        </p:nvSpPr>
        <p:spPr>
          <a:xfrm>
            <a:off x="3543300" y="4974336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costo fijo del vehículo 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6080760" y="4645152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u</a:t>
            </a:r>
            <a:r>
              <a:rPr b="1" baseline="30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1" i="0" sz="1700" u="none" cap="none" strike="noStrike">
              <a:solidFill>
                <a:srgbClr val="C89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6080760" y="4974336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variable de activacion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8618200" y="4594800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30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sz="1700">
              <a:solidFill>
                <a:srgbClr val="C89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t/>
            </a:r>
            <a:endParaRPr b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3" name="Google Shape;693;p35"/>
          <p:cNvSpPr/>
          <p:nvPr/>
        </p:nvSpPr>
        <p:spPr>
          <a:xfrm>
            <a:off x="8618220" y="4974336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uso de coneccion i a 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6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Restricciones de Capacidad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6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1" name="Google Shape;701;p36" title="Screenshot from 2026-07-11 11-46-41.png"/>
          <p:cNvPicPr preferRelativeResize="0"/>
          <p:nvPr/>
        </p:nvPicPr>
        <p:blipFill rotWithShape="1">
          <a:blip r:embed="rId3">
            <a:alphaModFix/>
          </a:blip>
          <a:srcRect b="70652" l="0" r="0" t="19712"/>
          <a:stretch/>
        </p:blipFill>
        <p:spPr>
          <a:xfrm>
            <a:off x="2408200" y="2804435"/>
            <a:ext cx="7375576" cy="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6"/>
          <p:cNvSpPr/>
          <p:nvPr/>
        </p:nvSpPr>
        <p:spPr>
          <a:xfrm>
            <a:off x="655330" y="4579625"/>
            <a:ext cx="10881300" cy="14172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6"/>
          <p:cNvSpPr/>
          <p:nvPr/>
        </p:nvSpPr>
        <p:spPr>
          <a:xfrm>
            <a:off x="1005815" y="4741317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NOTACIÓN CLAVE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1005815" y="510372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i="0" lang="en-US" sz="17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1005815" y="54329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conjunto de </a:t>
            </a:r>
            <a:r>
              <a:rPr b="0" i="0" lang="en-US" sz="100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vehículos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6"/>
          <p:cNvSpPr/>
          <p:nvPr/>
        </p:nvSpPr>
        <p:spPr>
          <a:xfrm>
            <a:off x="3543275" y="510372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b="1" lang="en-US" sz="13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6"/>
          <p:cNvSpPr/>
          <p:nvPr/>
        </p:nvSpPr>
        <p:spPr>
          <a:xfrm>
            <a:off x="3543275" y="54329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Demanda del cliente 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6"/>
          <p:cNvSpPr/>
          <p:nvPr/>
        </p:nvSpPr>
        <p:spPr>
          <a:xfrm>
            <a:off x="8626910" y="505337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Q</a:t>
            </a:r>
            <a:r>
              <a:rPr b="1" lang="en-US" sz="13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1" i="0" sz="1700" u="none" cap="none" strike="noStrike">
              <a:solidFill>
                <a:srgbClr val="C89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6"/>
          <p:cNvSpPr/>
          <p:nvPr/>
        </p:nvSpPr>
        <p:spPr>
          <a:xfrm>
            <a:off x="8626910" y="538256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uso de coneccion i a j</a:t>
            </a:r>
            <a:endParaRPr sz="1000">
              <a:solidFill>
                <a:srgbClr val="D6E2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6"/>
          <p:cNvSpPr/>
          <p:nvPr/>
        </p:nvSpPr>
        <p:spPr>
          <a:xfrm>
            <a:off x="5795950" y="5103725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30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sz="1700">
              <a:solidFill>
                <a:srgbClr val="C89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t/>
            </a:r>
            <a:endParaRPr b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1" name="Google Shape;711;p36"/>
          <p:cNvSpPr/>
          <p:nvPr/>
        </p:nvSpPr>
        <p:spPr>
          <a:xfrm>
            <a:off x="5795945" y="54329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uso de coneccion i a 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37" title="Screenshot from 2026-07-11 11-46-41.png"/>
          <p:cNvPicPr preferRelativeResize="0"/>
          <p:nvPr/>
        </p:nvPicPr>
        <p:blipFill rotWithShape="1">
          <a:blip r:embed="rId3">
            <a:alphaModFix/>
          </a:blip>
          <a:srcRect b="44185" l="9016" r="0" t="28628"/>
          <a:stretch/>
        </p:blipFill>
        <p:spPr>
          <a:xfrm>
            <a:off x="3311513" y="2144450"/>
            <a:ext cx="5568975" cy="1586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7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Restricciones de Flujo: in/out y flow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7"/>
          <p:cNvSpPr/>
          <p:nvPr/>
        </p:nvSpPr>
        <p:spPr>
          <a:xfrm>
            <a:off x="655355" y="4599875"/>
            <a:ext cx="10881300" cy="14172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7"/>
          <p:cNvSpPr/>
          <p:nvPr/>
        </p:nvSpPr>
        <p:spPr>
          <a:xfrm>
            <a:off x="1005840" y="4764467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NOTACIÓN CLAVE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/>
          <p:cNvSpPr/>
          <p:nvPr/>
        </p:nvSpPr>
        <p:spPr>
          <a:xfrm>
            <a:off x="1005840" y="513022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i="0" lang="en-US" sz="17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7"/>
          <p:cNvSpPr/>
          <p:nvPr/>
        </p:nvSpPr>
        <p:spPr>
          <a:xfrm>
            <a:off x="1005840" y="54594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conjunto de </a:t>
            </a:r>
            <a:r>
              <a:rPr b="0" i="0" lang="en-US" sz="100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vehículos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7"/>
          <p:cNvSpPr/>
          <p:nvPr/>
        </p:nvSpPr>
        <p:spPr>
          <a:xfrm>
            <a:off x="3543300" y="513022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C	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7"/>
          <p:cNvSpPr/>
          <p:nvPr/>
        </p:nvSpPr>
        <p:spPr>
          <a:xfrm>
            <a:off x="3543300" y="54594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conjunto de clientes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7"/>
          <p:cNvSpPr/>
          <p:nvPr/>
        </p:nvSpPr>
        <p:spPr>
          <a:xfrm>
            <a:off x="8626935" y="507987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Ret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b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7" name="Google Shape;727;p37"/>
          <p:cNvSpPr/>
          <p:nvPr/>
        </p:nvSpPr>
        <p:spPr>
          <a:xfrm>
            <a:off x="8626935" y="540906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Lugar de retorno del </a:t>
            </a: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vehículo</a:t>
            </a: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 k</a:t>
            </a:r>
            <a:endParaRPr sz="1000">
              <a:solidFill>
                <a:srgbClr val="D6E2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7"/>
          <p:cNvSpPr/>
          <p:nvPr/>
        </p:nvSpPr>
        <p:spPr>
          <a:xfrm>
            <a:off x="5795975" y="5130225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Depot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 sz="1700">
              <a:solidFill>
                <a:srgbClr val="C89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t/>
            </a:r>
            <a:endParaRPr b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9" name="Google Shape;729;p37"/>
          <p:cNvSpPr/>
          <p:nvPr/>
        </p:nvSpPr>
        <p:spPr>
          <a:xfrm>
            <a:off x="5795970" y="54594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Lugar de salida del </a:t>
            </a: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vehículo</a:t>
            </a: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 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8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Restricciones de Tiempo: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servicio y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ventanas temporales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8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7" name="Google Shape;737;p38" title="Screenshot from 2026-07-11 11-46-41.png"/>
          <p:cNvPicPr preferRelativeResize="0"/>
          <p:nvPr/>
        </p:nvPicPr>
        <p:blipFill rotWithShape="1">
          <a:blip r:embed="rId3">
            <a:alphaModFix/>
          </a:blip>
          <a:srcRect b="33846" l="0" r="0" t="55729"/>
          <a:stretch/>
        </p:blipFill>
        <p:spPr>
          <a:xfrm>
            <a:off x="1944614" y="2855125"/>
            <a:ext cx="7820690" cy="7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8"/>
          <p:cNvSpPr/>
          <p:nvPr/>
        </p:nvSpPr>
        <p:spPr>
          <a:xfrm>
            <a:off x="655355" y="4599875"/>
            <a:ext cx="10881300" cy="1417200"/>
          </a:xfrm>
          <a:prstGeom prst="roundRect">
            <a:avLst>
              <a:gd fmla="val 5806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8"/>
          <p:cNvSpPr/>
          <p:nvPr/>
        </p:nvSpPr>
        <p:spPr>
          <a:xfrm>
            <a:off x="1005840" y="4764467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NOTACIÓN CLAVE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8"/>
          <p:cNvSpPr/>
          <p:nvPr/>
        </p:nvSpPr>
        <p:spPr>
          <a:xfrm>
            <a:off x="1005840" y="513022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rPr b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8"/>
          <p:cNvSpPr/>
          <p:nvPr/>
        </p:nvSpPr>
        <p:spPr>
          <a:xfrm>
            <a:off x="1005840" y="54594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conjunto de nodos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D6E2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8"/>
          <p:cNvSpPr/>
          <p:nvPr/>
        </p:nvSpPr>
        <p:spPr>
          <a:xfrm>
            <a:off x="3543300" y="513022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x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sz="1700">
              <a:solidFill>
                <a:srgbClr val="C89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t/>
            </a:r>
            <a:endParaRPr b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3" name="Google Shape;743;p38"/>
          <p:cNvSpPr/>
          <p:nvPr/>
        </p:nvSpPr>
        <p:spPr>
          <a:xfrm>
            <a:off x="3543300" y="54594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Tiempo de viaje del cliente i al j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8"/>
          <p:cNvSpPr/>
          <p:nvPr/>
        </p:nvSpPr>
        <p:spPr>
          <a:xfrm>
            <a:off x="8626935" y="5079877"/>
            <a:ext cx="235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aseline="30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i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5" name="Google Shape;745;p38"/>
          <p:cNvSpPr/>
          <p:nvPr/>
        </p:nvSpPr>
        <p:spPr>
          <a:xfrm>
            <a:off x="8626924" y="5409050"/>
            <a:ext cx="256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Tiempo de servicio del </a:t>
            </a: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vehículo</a:t>
            </a: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 k en el cliente i</a:t>
            </a:r>
            <a:endParaRPr sz="1000">
              <a:solidFill>
                <a:srgbClr val="D6E2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8"/>
          <p:cNvSpPr/>
          <p:nvPr/>
        </p:nvSpPr>
        <p:spPr>
          <a:xfrm>
            <a:off x="5795975" y="5130225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[e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i </a:t>
            </a:r>
            <a:r>
              <a:rPr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 , l</a:t>
            </a:r>
            <a:r>
              <a:rPr baseline="-25000" i="1" lang="en-US" sz="1700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r>
              <a:rPr lang="en-US" sz="1700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aseline="-25000" i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400"/>
              <a:buFont typeface="Cambria"/>
              <a:buNone/>
            </a:pPr>
            <a:r>
              <a:t/>
            </a:r>
            <a:endParaRPr b="1" sz="1700">
              <a:solidFill>
                <a:srgbClr val="C89B3C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47" name="Google Shape;747;p38"/>
          <p:cNvSpPr/>
          <p:nvPr/>
        </p:nvSpPr>
        <p:spPr>
          <a:xfrm>
            <a:off x="5795970" y="5459411"/>
            <a:ext cx="235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Ventanas de tiempo del cliente 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9"/>
          <p:cNvSpPr/>
          <p:nvPr/>
        </p:nvSpPr>
        <p:spPr>
          <a:xfrm>
            <a:off x="640080" y="750000"/>
            <a:ext cx="90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SECCIÓN 04 DE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9"/>
          <p:cNvSpPr/>
          <p:nvPr/>
        </p:nvSpPr>
        <p:spPr>
          <a:xfrm>
            <a:off x="640080" y="1250000"/>
            <a:ext cx="103669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Implementacion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9"/>
          <p:cNvSpPr/>
          <p:nvPr/>
        </p:nvSpPr>
        <p:spPr>
          <a:xfrm>
            <a:off x="640080" y="2150000"/>
            <a:ext cx="9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9C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Heurística, metaheurística y método exacto: tres enfoques de distinta naturaleza y complejidad computacional.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5" name="Google Shape;755;p39"/>
          <p:cNvCxnSpPr>
            <a:endCxn id="756" idx="6"/>
          </p:cNvCxnSpPr>
          <p:nvPr/>
        </p:nvCxnSpPr>
        <p:spPr>
          <a:xfrm>
            <a:off x="982880" y="4600000"/>
            <a:ext cx="8750400" cy="0"/>
          </a:xfrm>
          <a:prstGeom prst="straightConnector1">
            <a:avLst/>
          </a:prstGeom>
          <a:noFill/>
          <a:ln cap="flat" cmpd="sng" w="12700">
            <a:solidFill>
              <a:srgbClr val="3A5A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39"/>
          <p:cNvSpPr/>
          <p:nvPr/>
        </p:nvSpPr>
        <p:spPr>
          <a:xfrm>
            <a:off x="7543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9"/>
          <p:cNvSpPr/>
          <p:nvPr/>
        </p:nvSpPr>
        <p:spPr>
          <a:xfrm>
            <a:off x="245872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9"/>
          <p:cNvSpPr/>
          <p:nvPr/>
        </p:nvSpPr>
        <p:spPr>
          <a:xfrm>
            <a:off x="416306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9"/>
          <p:cNvSpPr/>
          <p:nvPr/>
        </p:nvSpPr>
        <p:spPr>
          <a:xfrm>
            <a:off x="5753100" y="4257100"/>
            <a:ext cx="685800" cy="6858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9"/>
          <p:cNvSpPr/>
          <p:nvPr/>
        </p:nvSpPr>
        <p:spPr>
          <a:xfrm>
            <a:off x="757174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9"/>
          <p:cNvSpPr/>
          <p:nvPr/>
        </p:nvSpPr>
        <p:spPr>
          <a:xfrm>
            <a:off x="92760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0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METODOLOGÍAS DE RESOLUCIÓN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0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Velocidad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vs</a:t>
            </a: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Optimalidad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0"/>
          <p:cNvSpPr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En un extremo, los métodos exactos garantizan la solución óptima a alto costo computacional. En el otro, las heurísticas constructivas son rápidas pero sacrifican calidad. Las metaheurísticas ocupan el punto intermedio.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0" name="Google Shape;770;p40"/>
          <p:cNvCxnSpPr/>
          <p:nvPr/>
        </p:nvCxnSpPr>
        <p:spPr>
          <a:xfrm>
            <a:off x="1737360" y="3977640"/>
            <a:ext cx="8686800" cy="0"/>
          </a:xfrm>
          <a:prstGeom prst="straightConnector1">
            <a:avLst/>
          </a:prstGeom>
          <a:noFill/>
          <a:ln cap="flat" cmpd="sng" w="38100">
            <a:solidFill>
              <a:srgbClr val="DDE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1" name="Google Shape;771;p40"/>
          <p:cNvSpPr/>
          <p:nvPr/>
        </p:nvSpPr>
        <p:spPr>
          <a:xfrm>
            <a:off x="640080" y="32278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RÁPIDO · SIN GARANTÍA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0"/>
          <p:cNvSpPr/>
          <p:nvPr/>
        </p:nvSpPr>
        <p:spPr>
          <a:xfrm>
            <a:off x="8899855" y="322783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LENTO · ÓPTIMO GARANTIZADO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0"/>
          <p:cNvSpPr/>
          <p:nvPr/>
        </p:nvSpPr>
        <p:spPr>
          <a:xfrm>
            <a:off x="2153412" y="3611880"/>
            <a:ext cx="731520" cy="731520"/>
          </a:xfrm>
          <a:prstGeom prst="ellipse">
            <a:avLst/>
          </a:prstGeom>
          <a:solidFill>
            <a:srgbClr val="B55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route_white.png" id="774" name="Google Shape;77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6292" y="3794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0"/>
          <p:cNvSpPr/>
          <p:nvPr/>
        </p:nvSpPr>
        <p:spPr>
          <a:xfrm>
            <a:off x="1513332" y="4480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B5502C"/>
                </a:solidFill>
                <a:latin typeface="Cambria"/>
                <a:ea typeface="Cambria"/>
                <a:cs typeface="Cambria"/>
                <a:sym typeface="Cambria"/>
              </a:rPr>
              <a:t>TWNN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0"/>
          <p:cNvSpPr/>
          <p:nvPr/>
        </p:nvSpPr>
        <p:spPr>
          <a:xfrm>
            <a:off x="1513332" y="48737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Heurística constructiva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0"/>
          <p:cNvSpPr/>
          <p:nvPr/>
        </p:nvSpPr>
        <p:spPr>
          <a:xfrm>
            <a:off x="5715000" y="3611880"/>
            <a:ext cx="731520" cy="73152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ant_white.png" id="778" name="Google Shape;77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3794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40"/>
          <p:cNvSpPr/>
          <p:nvPr/>
        </p:nvSpPr>
        <p:spPr>
          <a:xfrm>
            <a:off x="5074920" y="4480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ACO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0"/>
          <p:cNvSpPr/>
          <p:nvPr/>
        </p:nvSpPr>
        <p:spPr>
          <a:xfrm>
            <a:off x="5074920" y="48737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Metaheurística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0"/>
          <p:cNvSpPr/>
          <p:nvPr/>
        </p:nvSpPr>
        <p:spPr>
          <a:xfrm>
            <a:off x="9450324" y="3611880"/>
            <a:ext cx="731520" cy="731520"/>
          </a:xfrm>
          <a:prstGeom prst="ellipse">
            <a:avLst/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calculator_white.png" id="782" name="Google Shape;78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33204" y="3794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40"/>
          <p:cNvSpPr/>
          <p:nvPr/>
        </p:nvSpPr>
        <p:spPr>
          <a:xfrm>
            <a:off x="8810244" y="4480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MILP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0"/>
          <p:cNvSpPr/>
          <p:nvPr/>
        </p:nvSpPr>
        <p:spPr>
          <a:xfrm>
            <a:off x="8810244" y="48737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Método exacto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1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1 · BASE PARA 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COMPARACIÓN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1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Time Window Nearest Neighbor (TWNN)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1"/>
          <p:cNvSpPr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Heurística constructiva greedy en dos fases: no optimiza el costo total, sino que construye rápidamente una solución factible que sirva como cota de referencia.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1"/>
          <p:cNvSpPr/>
          <p:nvPr/>
        </p:nvSpPr>
        <p:spPr>
          <a:xfrm>
            <a:off x="493955" y="2496300"/>
            <a:ext cx="5257800" cy="2469000"/>
          </a:xfrm>
          <a:prstGeom prst="roundRect">
            <a:avLst>
              <a:gd fmla="val 33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41"/>
          <p:cNvSpPr/>
          <p:nvPr/>
        </p:nvSpPr>
        <p:spPr>
          <a:xfrm>
            <a:off x="813995" y="2788908"/>
            <a:ext cx="530400" cy="5304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clock_forest.png" id="795" name="Google Shape;79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324" y="2908237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1"/>
          <p:cNvSpPr/>
          <p:nvPr/>
        </p:nvSpPr>
        <p:spPr>
          <a:xfrm>
            <a:off x="1499795" y="2807196"/>
            <a:ext cx="397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Fase 1 — Asignación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1"/>
          <p:cNvSpPr/>
          <p:nvPr/>
        </p:nvSpPr>
        <p:spPr>
          <a:xfrm>
            <a:off x="813995" y="3410700"/>
            <a:ext cx="461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Ordena los clientes por el centro de su ventana horaria </a:t>
            </a:r>
            <a:r>
              <a:rPr b="1" i="0" lang="en-US" sz="120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(eᵢ+lᵢ)/2</a:t>
            </a: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— priorizando a quienes tienen menor margen — y asigna cada uno al vehículo que minimiza su tiempo de inicio de servicio, respetando ventana y capacidad.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8" name="Google Shape;798;p41" title="ChatGPT Image 13 jul 2026, 10_24_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9405" y="2807195"/>
            <a:ext cx="5989321" cy="1922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2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1 · 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BASE PARA COMPARACIÓN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2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Time Window Nearest Neighbor (TWNN)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2"/>
          <p:cNvSpPr/>
          <p:nvPr/>
        </p:nvSpPr>
        <p:spPr>
          <a:xfrm>
            <a:off x="640080" y="1783080"/>
            <a:ext cx="1088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Heurística constructiva greedy en dos fases: no optimiza el costo total, sino que construye rápidamente una solución factible que sirva como cota de referencia.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2"/>
          <p:cNvSpPr/>
          <p:nvPr/>
        </p:nvSpPr>
        <p:spPr>
          <a:xfrm>
            <a:off x="640080" y="2514600"/>
            <a:ext cx="5257800" cy="2469000"/>
          </a:xfrm>
          <a:prstGeom prst="roundRect">
            <a:avLst>
              <a:gd fmla="val 33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42"/>
          <p:cNvSpPr/>
          <p:nvPr/>
        </p:nvSpPr>
        <p:spPr>
          <a:xfrm>
            <a:off x="960120" y="2807208"/>
            <a:ext cx="530400" cy="5304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clock_forest.png" id="809" name="Google Shape;8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449" y="2926537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42"/>
          <p:cNvSpPr/>
          <p:nvPr/>
        </p:nvSpPr>
        <p:spPr>
          <a:xfrm>
            <a:off x="1645920" y="2825496"/>
            <a:ext cx="397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Fase 1 — Asignación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2"/>
          <p:cNvSpPr/>
          <p:nvPr/>
        </p:nvSpPr>
        <p:spPr>
          <a:xfrm>
            <a:off x="960120" y="3429000"/>
            <a:ext cx="461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Ordena los clientes por el centro de su ventana horaria </a:t>
            </a:r>
            <a:r>
              <a:rPr b="1" i="0" lang="en-US" sz="120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(eᵢ+lᵢ)/2</a:t>
            </a: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 — priorizando a quienes tienen menor margen — y asigna cada uno al vehículo que minimiza su tiempo de inicio de servicio, respetando ventana y capacidad.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2"/>
          <p:cNvSpPr/>
          <p:nvPr/>
        </p:nvSpPr>
        <p:spPr>
          <a:xfrm>
            <a:off x="6263640" y="2514600"/>
            <a:ext cx="5257800" cy="2469000"/>
          </a:xfrm>
          <a:prstGeom prst="roundRect">
            <a:avLst>
              <a:gd fmla="val 33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2"/>
          <p:cNvSpPr/>
          <p:nvPr/>
        </p:nvSpPr>
        <p:spPr>
          <a:xfrm>
            <a:off x="6583680" y="2807208"/>
            <a:ext cx="530400" cy="5304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route_forest.png" id="814" name="Google Shape;81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3009" y="2926537"/>
            <a:ext cx="291694" cy="291694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2"/>
          <p:cNvSpPr/>
          <p:nvPr/>
        </p:nvSpPr>
        <p:spPr>
          <a:xfrm>
            <a:off x="7269480" y="2825496"/>
            <a:ext cx="397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Fase 2 — Construcción de rutas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2"/>
          <p:cNvSpPr/>
          <p:nvPr/>
        </p:nvSpPr>
        <p:spPr>
          <a:xfrm>
            <a:off x="6583680" y="3429000"/>
            <a:ext cx="461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Desde el depósito, visita iterativamente al cliente factible aún no visitado con menor tiempo de viaje desde el nodo actual — una variante de Nearest Neighbor adaptada a ventanas de tiempo — hasta cerrar la ruta en el nodo de retorno.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7" name="Google Shape;817;p42"/>
          <p:cNvCxnSpPr/>
          <p:nvPr/>
        </p:nvCxnSpPr>
        <p:spPr>
          <a:xfrm>
            <a:off x="5952744" y="3749040"/>
            <a:ext cx="2559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8" name="Google Shape;818;p42"/>
          <p:cNvSpPr/>
          <p:nvPr/>
        </p:nvSpPr>
        <p:spPr>
          <a:xfrm>
            <a:off x="640080" y="5257800"/>
            <a:ext cx="10881300" cy="685800"/>
          </a:xfrm>
          <a:prstGeom prst="roundRect">
            <a:avLst>
              <a:gd fmla="val 12000" name="adj"/>
            </a:avLst>
          </a:prstGeom>
          <a:solidFill>
            <a:srgbClr val="F5E3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2"/>
          <p:cNvSpPr/>
          <p:nvPr/>
        </p:nvSpPr>
        <p:spPr>
          <a:xfrm>
            <a:off x="914400" y="5385816"/>
            <a:ext cx="420600" cy="420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question_terracotta.png" id="820" name="Google Shape;82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040" y="5480456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42"/>
          <p:cNvSpPr/>
          <p:nvPr/>
        </p:nvSpPr>
        <p:spPr>
          <a:xfrm>
            <a:off x="1508760" y="5257800"/>
            <a:ext cx="9692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Si ningún vehículo puede atender a un cliente dentro de su ventana, la instancia se declara infactible — sin ningún mecanismo de reasignación posterior.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3"/>
          <p:cNvSpPr/>
          <p:nvPr/>
        </p:nvSpPr>
        <p:spPr>
          <a:xfrm>
            <a:off x="640080" y="272945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2 · </a:t>
            </a: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METAHEURÍSTICA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3"/>
          <p:cNvSpPr/>
          <p:nvPr/>
        </p:nvSpPr>
        <p:spPr>
          <a:xfrm>
            <a:off x="640080" y="599736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Optimización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por Colonia de Hormigas 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3"/>
          <p:cNvSpPr/>
          <p:nvPr/>
        </p:nvSpPr>
        <p:spPr>
          <a:xfrm>
            <a:off x="640075" y="1411325"/>
            <a:ext cx="11003100" cy="4924800"/>
          </a:xfrm>
          <a:prstGeom prst="roundRect">
            <a:avLst>
              <a:gd fmla="val 1978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0" name="Google Shape;830;p43" title="aco-seleccion-camin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075" y="1531200"/>
            <a:ext cx="10607101" cy="4685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2 · IMPLEMENTACIÓN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4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Dos Matrices de Feromonas, Tres Fases por Iteración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44"/>
          <p:cNvSpPr/>
          <p:nvPr/>
        </p:nvSpPr>
        <p:spPr>
          <a:xfrm>
            <a:off x="64008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4"/>
          <p:cNvSpPr/>
          <p:nvPr/>
        </p:nvSpPr>
        <p:spPr>
          <a:xfrm>
            <a:off x="96012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asig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44"/>
          <p:cNvSpPr/>
          <p:nvPr/>
        </p:nvSpPr>
        <p:spPr>
          <a:xfrm>
            <a:off x="96012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asignar el cliente c al vehículo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4"/>
          <p:cNvSpPr/>
          <p:nvPr/>
        </p:nvSpPr>
        <p:spPr>
          <a:xfrm>
            <a:off x="626364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4"/>
          <p:cNvSpPr/>
          <p:nvPr/>
        </p:nvSpPr>
        <p:spPr>
          <a:xfrm>
            <a:off x="658368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visitar j inmediatamente después de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4"/>
          <p:cNvSpPr/>
          <p:nvPr/>
        </p:nvSpPr>
        <p:spPr>
          <a:xfrm>
            <a:off x="637105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44"/>
          <p:cNvSpPr/>
          <p:nvPr/>
        </p:nvSpPr>
        <p:spPr>
          <a:xfrm>
            <a:off x="893137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listOl_white.png" id="845" name="Google Shape;8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007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44"/>
          <p:cNvSpPr/>
          <p:nvPr/>
        </p:nvSpPr>
        <p:spPr>
          <a:xfrm>
            <a:off x="893137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1 — Asignación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4"/>
          <p:cNvSpPr/>
          <p:nvPr/>
        </p:nvSpPr>
        <p:spPr>
          <a:xfrm>
            <a:off x="893137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Probabilidad de asignar cada cliente a un vehículo, combinando feromona y atractivo heurístico (1/distancia).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8" name="Google Shape;848;p44"/>
          <p:cNvCxnSpPr/>
          <p:nvPr/>
        </p:nvCxnSpPr>
        <p:spPr>
          <a:xfrm>
            <a:off x="4130113" y="4516775"/>
            <a:ext cx="2013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9" name="Google Shape;849;p44"/>
          <p:cNvSpPr/>
          <p:nvPr/>
        </p:nvSpPr>
        <p:spPr>
          <a:xfrm>
            <a:off x="4367857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4"/>
          <p:cNvSpPr/>
          <p:nvPr/>
        </p:nvSpPr>
        <p:spPr>
          <a:xfrm>
            <a:off x="4623889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route_white.png" id="851" name="Google Shape;85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6759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44"/>
          <p:cNvSpPr/>
          <p:nvPr/>
        </p:nvSpPr>
        <p:spPr>
          <a:xfrm>
            <a:off x="4623889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2 — Construcción (ACS)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4"/>
          <p:cNvSpPr/>
          <p:nvPr/>
        </p:nvSpPr>
        <p:spPr>
          <a:xfrm>
            <a:off x="4623889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Con prob. q₀ se explota el mejor score (feromona × urgencia × ahorro Clarke-Wright); si no, ruleta probabilística.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44"/>
          <p:cNvCxnSpPr/>
          <p:nvPr/>
        </p:nvCxnSpPr>
        <p:spPr>
          <a:xfrm>
            <a:off x="7860865" y="4516775"/>
            <a:ext cx="2013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5" name="Google Shape;855;p44"/>
          <p:cNvSpPr/>
          <p:nvPr/>
        </p:nvSpPr>
        <p:spPr>
          <a:xfrm>
            <a:off x="8098609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44"/>
          <p:cNvSpPr/>
          <p:nvPr/>
        </p:nvSpPr>
        <p:spPr>
          <a:xfrm>
            <a:off x="8354641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sync_white.png" id="857" name="Google Shape;857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7511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44"/>
          <p:cNvSpPr/>
          <p:nvPr/>
        </p:nvSpPr>
        <p:spPr>
          <a:xfrm>
            <a:off x="8354641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3 — Actualización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4"/>
          <p:cNvSpPr/>
          <p:nvPr/>
        </p:nvSpPr>
        <p:spPr>
          <a:xfrm>
            <a:off x="8354641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Evaporación (1−ρ) de ambas matrices y refuerzo Δ sobre la mejor solución de la iteración.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4"/>
          <p:cNvSpPr/>
          <p:nvPr/>
        </p:nvSpPr>
        <p:spPr>
          <a:xfrm>
            <a:off x="658368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ruta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5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2 · IMPLEMENTACIÓN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5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Dos Matrices de Feromonas, Tres Fases por Iteración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5"/>
          <p:cNvSpPr/>
          <p:nvPr/>
        </p:nvSpPr>
        <p:spPr>
          <a:xfrm>
            <a:off x="64008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5"/>
          <p:cNvSpPr/>
          <p:nvPr/>
        </p:nvSpPr>
        <p:spPr>
          <a:xfrm>
            <a:off x="96012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asig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5"/>
          <p:cNvSpPr/>
          <p:nvPr/>
        </p:nvSpPr>
        <p:spPr>
          <a:xfrm>
            <a:off x="96012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asignar el cliente c al vehículo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5"/>
          <p:cNvSpPr/>
          <p:nvPr/>
        </p:nvSpPr>
        <p:spPr>
          <a:xfrm>
            <a:off x="626364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5"/>
          <p:cNvSpPr/>
          <p:nvPr/>
        </p:nvSpPr>
        <p:spPr>
          <a:xfrm>
            <a:off x="658368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visitar j inmediatamente después de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5"/>
          <p:cNvSpPr/>
          <p:nvPr/>
        </p:nvSpPr>
        <p:spPr>
          <a:xfrm>
            <a:off x="815000" y="3054550"/>
            <a:ext cx="10881300" cy="2870400"/>
          </a:xfrm>
          <a:prstGeom prst="roundRect">
            <a:avLst>
              <a:gd fmla="val 1978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4" name="Google Shape;874;p45" title="Screenshot from 2026-07-13 10-56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663" y="3632488"/>
            <a:ext cx="97059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45"/>
          <p:cNvSpPr/>
          <p:nvPr/>
        </p:nvSpPr>
        <p:spPr>
          <a:xfrm>
            <a:off x="658368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ruta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6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2 · IMPLEMENTACIÓN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6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Dos Matrices de Feromonas, Tres Fases por Iteración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6"/>
          <p:cNvSpPr/>
          <p:nvPr/>
        </p:nvSpPr>
        <p:spPr>
          <a:xfrm>
            <a:off x="64008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6"/>
          <p:cNvSpPr/>
          <p:nvPr/>
        </p:nvSpPr>
        <p:spPr>
          <a:xfrm>
            <a:off x="96012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asig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6"/>
          <p:cNvSpPr/>
          <p:nvPr/>
        </p:nvSpPr>
        <p:spPr>
          <a:xfrm>
            <a:off x="96012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asignar el cliente c al vehículo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6"/>
          <p:cNvSpPr/>
          <p:nvPr/>
        </p:nvSpPr>
        <p:spPr>
          <a:xfrm>
            <a:off x="626364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6"/>
          <p:cNvSpPr/>
          <p:nvPr/>
        </p:nvSpPr>
        <p:spPr>
          <a:xfrm>
            <a:off x="658368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visitar j inmediatamente después de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6"/>
          <p:cNvSpPr/>
          <p:nvPr/>
        </p:nvSpPr>
        <p:spPr>
          <a:xfrm>
            <a:off x="637105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6"/>
          <p:cNvSpPr/>
          <p:nvPr/>
        </p:nvSpPr>
        <p:spPr>
          <a:xfrm>
            <a:off x="893137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listOl_white.png" id="890" name="Google Shape;89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007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46"/>
          <p:cNvSpPr/>
          <p:nvPr/>
        </p:nvSpPr>
        <p:spPr>
          <a:xfrm>
            <a:off x="893137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1 — Asignación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6"/>
          <p:cNvSpPr/>
          <p:nvPr/>
        </p:nvSpPr>
        <p:spPr>
          <a:xfrm>
            <a:off x="893137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Probabilidad de asignar cada cliente a un vehículo, combinando feromona y atractivo heurístico (1/distancia).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" name="Google Shape;893;p46"/>
          <p:cNvCxnSpPr/>
          <p:nvPr/>
        </p:nvCxnSpPr>
        <p:spPr>
          <a:xfrm>
            <a:off x="4130113" y="4516775"/>
            <a:ext cx="2013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4" name="Google Shape;894;p46"/>
          <p:cNvSpPr/>
          <p:nvPr/>
        </p:nvSpPr>
        <p:spPr>
          <a:xfrm>
            <a:off x="4367857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6"/>
          <p:cNvSpPr/>
          <p:nvPr/>
        </p:nvSpPr>
        <p:spPr>
          <a:xfrm>
            <a:off x="4623889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route_white.png" id="896" name="Google Shape;89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6759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46"/>
          <p:cNvSpPr/>
          <p:nvPr/>
        </p:nvSpPr>
        <p:spPr>
          <a:xfrm>
            <a:off x="4623889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2 — Construcción (ACS)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6"/>
          <p:cNvSpPr/>
          <p:nvPr/>
        </p:nvSpPr>
        <p:spPr>
          <a:xfrm>
            <a:off x="4623889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Con prob. q₀ se explota el mejor score (feromona × urgencia × ahorro Clarke-Wright); si no, ruleta probabilística.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9" name="Google Shape;899;p46"/>
          <p:cNvCxnSpPr/>
          <p:nvPr/>
        </p:nvCxnSpPr>
        <p:spPr>
          <a:xfrm>
            <a:off x="7860865" y="4516775"/>
            <a:ext cx="2013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0" name="Google Shape;900;p46"/>
          <p:cNvSpPr/>
          <p:nvPr/>
        </p:nvSpPr>
        <p:spPr>
          <a:xfrm>
            <a:off x="8098609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6"/>
          <p:cNvSpPr/>
          <p:nvPr/>
        </p:nvSpPr>
        <p:spPr>
          <a:xfrm>
            <a:off x="8354641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sync_white.png" id="902" name="Google Shape;902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7511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46"/>
          <p:cNvSpPr/>
          <p:nvPr/>
        </p:nvSpPr>
        <p:spPr>
          <a:xfrm>
            <a:off x="8354641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3 — Actualización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46"/>
          <p:cNvSpPr/>
          <p:nvPr/>
        </p:nvSpPr>
        <p:spPr>
          <a:xfrm>
            <a:off x="8354641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Evaporación (1−ρ) de ambas matrices y refuerzo Δ sobre la mejor solución de la iteración.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6"/>
          <p:cNvSpPr/>
          <p:nvPr/>
        </p:nvSpPr>
        <p:spPr>
          <a:xfrm>
            <a:off x="658368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ruta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7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2 · IMPLEMENTACIÓN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47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Dos Matrices de Feromonas, Tres Fases por Iteración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7"/>
          <p:cNvSpPr/>
          <p:nvPr/>
        </p:nvSpPr>
        <p:spPr>
          <a:xfrm>
            <a:off x="64008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7"/>
          <p:cNvSpPr/>
          <p:nvPr/>
        </p:nvSpPr>
        <p:spPr>
          <a:xfrm>
            <a:off x="96012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asig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7"/>
          <p:cNvSpPr/>
          <p:nvPr/>
        </p:nvSpPr>
        <p:spPr>
          <a:xfrm>
            <a:off x="96012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asignar el cliente c al vehículo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7"/>
          <p:cNvSpPr/>
          <p:nvPr/>
        </p:nvSpPr>
        <p:spPr>
          <a:xfrm>
            <a:off x="626364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47"/>
          <p:cNvSpPr/>
          <p:nvPr/>
        </p:nvSpPr>
        <p:spPr>
          <a:xfrm>
            <a:off x="658368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visitar j inmediatamente después de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7"/>
          <p:cNvSpPr/>
          <p:nvPr/>
        </p:nvSpPr>
        <p:spPr>
          <a:xfrm>
            <a:off x="761750" y="2999100"/>
            <a:ext cx="10881300" cy="2870400"/>
          </a:xfrm>
          <a:prstGeom prst="roundRect">
            <a:avLst>
              <a:gd fmla="val 1978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9" name="Google Shape;919;p47" title="Screenshot from 2026-07-13 11-15-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363" y="3254588"/>
            <a:ext cx="9705975" cy="1133475"/>
          </a:xfrm>
          <a:prstGeom prst="rect">
            <a:avLst/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sp>
        <p:nvSpPr>
          <p:cNvPr id="920" name="Google Shape;920;p47"/>
          <p:cNvSpPr/>
          <p:nvPr/>
        </p:nvSpPr>
        <p:spPr>
          <a:xfrm>
            <a:off x="4929650" y="4424575"/>
            <a:ext cx="138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Feromonas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7"/>
          <p:cNvSpPr/>
          <p:nvPr/>
        </p:nvSpPr>
        <p:spPr>
          <a:xfrm>
            <a:off x="586600" y="4899475"/>
            <a:ext cx="5637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Urgencia temporal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7"/>
          <p:cNvSpPr/>
          <p:nvPr/>
        </p:nvSpPr>
        <p:spPr>
          <a:xfrm>
            <a:off x="3510650" y="5374375"/>
            <a:ext cx="2800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Ahorro de Clarke-Wright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7"/>
          <p:cNvSpPr/>
          <p:nvPr/>
        </p:nvSpPr>
        <p:spPr>
          <a:xfrm flipH="1" rot="-5400000">
            <a:off x="6227500" y="4438241"/>
            <a:ext cx="354600" cy="282300"/>
          </a:xfrm>
          <a:prstGeom prst="bentUpArrow">
            <a:avLst>
              <a:gd fmla="val 25000" name="adj1"/>
              <a:gd fmla="val 28036" name="adj2"/>
              <a:gd fmla="val 50000" name="adj3"/>
            </a:avLst>
          </a:prstGeom>
          <a:solidFill>
            <a:srgbClr val="B550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5502C"/>
              </a:solidFill>
            </a:endParaRPr>
          </a:p>
        </p:txBody>
      </p:sp>
      <p:sp>
        <p:nvSpPr>
          <p:cNvPr id="924" name="Google Shape;924;p47"/>
          <p:cNvSpPr/>
          <p:nvPr/>
        </p:nvSpPr>
        <p:spPr>
          <a:xfrm flipH="1" rot="-5400000">
            <a:off x="6587725" y="4667375"/>
            <a:ext cx="840900" cy="282300"/>
          </a:xfrm>
          <a:prstGeom prst="bentUpArrow">
            <a:avLst>
              <a:gd fmla="val 25000" name="adj1"/>
              <a:gd fmla="val 28036" name="adj2"/>
              <a:gd fmla="val 50000" name="adj3"/>
            </a:avLst>
          </a:prstGeom>
          <a:solidFill>
            <a:srgbClr val="B550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5502C"/>
              </a:solidFill>
            </a:endParaRPr>
          </a:p>
        </p:txBody>
      </p:sp>
      <p:sp>
        <p:nvSpPr>
          <p:cNvPr id="925" name="Google Shape;925;p47"/>
          <p:cNvSpPr/>
          <p:nvPr/>
        </p:nvSpPr>
        <p:spPr>
          <a:xfrm flipH="1" rot="-5400000">
            <a:off x="6781775" y="4883524"/>
            <a:ext cx="1273200" cy="282300"/>
          </a:xfrm>
          <a:prstGeom prst="bentUpArrow">
            <a:avLst>
              <a:gd fmla="val 25000" name="adj1"/>
              <a:gd fmla="val 28036" name="adj2"/>
              <a:gd fmla="val 50000" name="adj3"/>
            </a:avLst>
          </a:prstGeom>
          <a:solidFill>
            <a:srgbClr val="B550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5502C"/>
              </a:solidFill>
            </a:endParaRPr>
          </a:p>
        </p:txBody>
      </p:sp>
      <p:sp>
        <p:nvSpPr>
          <p:cNvPr id="926" name="Google Shape;926;p47"/>
          <p:cNvSpPr/>
          <p:nvPr/>
        </p:nvSpPr>
        <p:spPr>
          <a:xfrm>
            <a:off x="658368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ruta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8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2 · IMPLEMENTACIÓN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48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Dos Matrices de Feromonas, Tres Fases por Iteración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8"/>
          <p:cNvSpPr/>
          <p:nvPr/>
        </p:nvSpPr>
        <p:spPr>
          <a:xfrm>
            <a:off x="64008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48"/>
          <p:cNvSpPr/>
          <p:nvPr/>
        </p:nvSpPr>
        <p:spPr>
          <a:xfrm>
            <a:off x="96012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asig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96012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asignar el cliente c al vehículo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626364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8"/>
          <p:cNvSpPr/>
          <p:nvPr/>
        </p:nvSpPr>
        <p:spPr>
          <a:xfrm>
            <a:off x="658368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visitar j inmediatamente después de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8"/>
          <p:cNvSpPr/>
          <p:nvPr/>
        </p:nvSpPr>
        <p:spPr>
          <a:xfrm>
            <a:off x="637105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8"/>
          <p:cNvSpPr/>
          <p:nvPr/>
        </p:nvSpPr>
        <p:spPr>
          <a:xfrm>
            <a:off x="893137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listOl_white.png" id="941" name="Google Shape;9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007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48"/>
          <p:cNvSpPr/>
          <p:nvPr/>
        </p:nvSpPr>
        <p:spPr>
          <a:xfrm>
            <a:off x="893137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1 — Asignación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8"/>
          <p:cNvSpPr/>
          <p:nvPr/>
        </p:nvSpPr>
        <p:spPr>
          <a:xfrm>
            <a:off x="893137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Probabilidad de asignar cada cliente a un vehículo, combinando feromona y atractivo heurístico (1/distancia).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4" name="Google Shape;944;p48"/>
          <p:cNvCxnSpPr/>
          <p:nvPr/>
        </p:nvCxnSpPr>
        <p:spPr>
          <a:xfrm>
            <a:off x="4130113" y="4516775"/>
            <a:ext cx="2013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5" name="Google Shape;945;p48"/>
          <p:cNvSpPr/>
          <p:nvPr/>
        </p:nvSpPr>
        <p:spPr>
          <a:xfrm>
            <a:off x="4367857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8"/>
          <p:cNvSpPr/>
          <p:nvPr/>
        </p:nvSpPr>
        <p:spPr>
          <a:xfrm>
            <a:off x="4623889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route_white.png" id="947" name="Google Shape;94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6759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48"/>
          <p:cNvSpPr/>
          <p:nvPr/>
        </p:nvSpPr>
        <p:spPr>
          <a:xfrm>
            <a:off x="4623889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2 — Construcción (ACS)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8"/>
          <p:cNvSpPr/>
          <p:nvPr/>
        </p:nvSpPr>
        <p:spPr>
          <a:xfrm>
            <a:off x="4623889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Con prob. q₀ se explota el mejor score (feromona × urgencia × ahorro Clarke-Wright); si no, ruleta probabilística.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0" name="Google Shape;950;p48"/>
          <p:cNvCxnSpPr/>
          <p:nvPr/>
        </p:nvCxnSpPr>
        <p:spPr>
          <a:xfrm>
            <a:off x="7860865" y="4516775"/>
            <a:ext cx="20130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1" name="Google Shape;951;p48"/>
          <p:cNvSpPr/>
          <p:nvPr/>
        </p:nvSpPr>
        <p:spPr>
          <a:xfrm>
            <a:off x="8098609" y="3670955"/>
            <a:ext cx="3456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8"/>
          <p:cNvSpPr/>
          <p:nvPr/>
        </p:nvSpPr>
        <p:spPr>
          <a:xfrm>
            <a:off x="8354641" y="3899555"/>
            <a:ext cx="457200" cy="457200"/>
          </a:xfrm>
          <a:prstGeom prst="ellipse">
            <a:avLst/>
          </a:prstGeom>
          <a:solidFill>
            <a:srgbClr val="2E5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sync_white.png" id="953" name="Google Shape;953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7511" y="400242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48"/>
          <p:cNvSpPr/>
          <p:nvPr/>
        </p:nvSpPr>
        <p:spPr>
          <a:xfrm>
            <a:off x="8354641" y="4493915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Fase 3 — Actualización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8"/>
          <p:cNvSpPr/>
          <p:nvPr/>
        </p:nvSpPr>
        <p:spPr>
          <a:xfrm>
            <a:off x="8354641" y="4841387"/>
            <a:ext cx="294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Evaporación (1−ρ) de ambas matrices y refuerzo Δ sobre la mejor solución de la iteración.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8"/>
          <p:cNvSpPr/>
          <p:nvPr/>
        </p:nvSpPr>
        <p:spPr>
          <a:xfrm>
            <a:off x="658368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ruta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49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2 · IMPLEMENTACIÓN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49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Dos Matrices de Feromonas, Tres Fases por Iteración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49"/>
          <p:cNvSpPr/>
          <p:nvPr/>
        </p:nvSpPr>
        <p:spPr>
          <a:xfrm>
            <a:off x="64008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9"/>
          <p:cNvSpPr/>
          <p:nvPr/>
        </p:nvSpPr>
        <p:spPr>
          <a:xfrm>
            <a:off x="96012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asig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vc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49"/>
          <p:cNvSpPr/>
          <p:nvPr/>
        </p:nvSpPr>
        <p:spPr>
          <a:xfrm>
            <a:off x="96012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asignar el cliente c al vehículo v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9"/>
          <p:cNvSpPr/>
          <p:nvPr/>
        </p:nvSpPr>
        <p:spPr>
          <a:xfrm>
            <a:off x="6263640" y="1783080"/>
            <a:ext cx="5257800" cy="1051500"/>
          </a:xfrm>
          <a:prstGeom prst="roundRect">
            <a:avLst>
              <a:gd fmla="val 7826" name="adj"/>
            </a:avLst>
          </a:prstGeom>
          <a:solidFill>
            <a:srgbClr val="F1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9"/>
          <p:cNvSpPr/>
          <p:nvPr/>
        </p:nvSpPr>
        <p:spPr>
          <a:xfrm>
            <a:off x="6583680" y="2350008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Afinidad de visitar j inmediatamente después de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655350" y="2999100"/>
            <a:ext cx="10881300" cy="3229800"/>
          </a:xfrm>
          <a:prstGeom prst="roundRect">
            <a:avLst>
              <a:gd fmla="val 1978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0" name="Google Shape;970;p49" title="Screenshot from 2026-07-13 11-27-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113" y="4573125"/>
            <a:ext cx="8334375" cy="1543050"/>
          </a:xfrm>
          <a:prstGeom prst="rect">
            <a:avLst/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pic>
        <p:nvPicPr>
          <p:cNvPr id="971" name="Google Shape;971;p49" title="Screenshot from 2026-07-13 11-27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125" y="3164513"/>
            <a:ext cx="5372100" cy="790575"/>
          </a:xfrm>
          <a:prstGeom prst="rect">
            <a:avLst/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sp>
        <p:nvSpPr>
          <p:cNvPr id="972" name="Google Shape;972;p49"/>
          <p:cNvSpPr/>
          <p:nvPr/>
        </p:nvSpPr>
        <p:spPr>
          <a:xfrm>
            <a:off x="3193775" y="3973113"/>
            <a:ext cx="150300" cy="582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5502C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3" name="Google Shape;973;p49"/>
          <p:cNvSpPr/>
          <p:nvPr/>
        </p:nvSpPr>
        <p:spPr>
          <a:xfrm>
            <a:off x="9865375" y="3364983"/>
            <a:ext cx="138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Evaporacion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9"/>
          <p:cNvSpPr/>
          <p:nvPr/>
        </p:nvSpPr>
        <p:spPr>
          <a:xfrm>
            <a:off x="9865375" y="4820825"/>
            <a:ext cx="1381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Refuerzo</a:t>
            </a:r>
            <a:endParaRPr b="1" sz="19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Mejor</a:t>
            </a:r>
            <a:endParaRPr b="1" sz="19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Solucion</a:t>
            </a:r>
            <a:endParaRPr b="1" sz="19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6583680" y="19476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000"/>
              <a:buFont typeface="Cambria"/>
              <a:buNone/>
            </a:pPr>
            <a:r>
              <a:rPr b="1" i="0" lang="en-US" sz="30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τ</a:t>
            </a:r>
            <a:r>
              <a:rPr b="0" baseline="30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ruta</a:t>
            </a:r>
            <a:r>
              <a:rPr b="0" baseline="-25000" i="0" lang="en-US" sz="21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ij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50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3 · MÉTODO EXACTO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0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Programación Lineal Entera Mixta (MILP)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50"/>
          <p:cNvSpPr/>
          <p:nvPr/>
        </p:nvSpPr>
        <p:spPr>
          <a:xfrm>
            <a:off x="581625" y="1618550"/>
            <a:ext cx="10545900" cy="43923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4" name="Google Shape;984;p50" title="16072021-Tipos-de-soluciones-de-problema-de-programacion-lineal.jpg"/>
          <p:cNvPicPr preferRelativeResize="0"/>
          <p:nvPr/>
        </p:nvPicPr>
        <p:blipFill rotWithShape="1">
          <a:blip r:embed="rId3">
            <a:alphaModFix/>
          </a:blip>
          <a:srcRect b="0" l="0" r="0" t="7304"/>
          <a:stretch/>
        </p:blipFill>
        <p:spPr>
          <a:xfrm>
            <a:off x="876725" y="2135125"/>
            <a:ext cx="6442325" cy="3359151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sp>
        <p:nvSpPr>
          <p:cNvPr id="985" name="Google Shape;985;p50"/>
          <p:cNvSpPr/>
          <p:nvPr/>
        </p:nvSpPr>
        <p:spPr>
          <a:xfrm>
            <a:off x="7319050" y="2356400"/>
            <a:ext cx="3808500" cy="29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George Dantzig 1947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LP pertenece a la clase P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LP no alcanza -&gt; MILP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MILP es en general NP-Hard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51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3 · MÉTODO EXACTO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51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Programación Lineal Entera Mixta (MILP)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51"/>
          <p:cNvSpPr/>
          <p:nvPr/>
        </p:nvSpPr>
        <p:spPr>
          <a:xfrm>
            <a:off x="640038" y="2295213"/>
            <a:ext cx="5257800" cy="24048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51"/>
          <p:cNvSpPr/>
          <p:nvPr/>
        </p:nvSpPr>
        <p:spPr>
          <a:xfrm>
            <a:off x="960083" y="2569533"/>
            <a:ext cx="512100" cy="5121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server_forest.png" id="995" name="Google Shape;99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297" y="2684747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51"/>
          <p:cNvSpPr/>
          <p:nvPr/>
        </p:nvSpPr>
        <p:spPr>
          <a:xfrm>
            <a:off x="1645882" y="2587821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Gurobi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51"/>
          <p:cNvSpPr/>
          <p:nvPr/>
        </p:nvSpPr>
        <p:spPr>
          <a:xfrm>
            <a:off x="1645882" y="2953581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Solver comercial de referencia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1"/>
          <p:cNvSpPr/>
          <p:nvPr/>
        </p:nvSpPr>
        <p:spPr>
          <a:xfrm>
            <a:off x="960083" y="3346773"/>
            <a:ext cx="4617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 Preprocesamiento multi-fila agresivo antes del branch and bound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1"/>
          <p:cNvSpPr/>
          <p:nvPr/>
        </p:nvSpPr>
        <p:spPr>
          <a:xfrm>
            <a:off x="960133" y="3900023"/>
            <a:ext cx="4617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 Licencia académica gratuita en el ámbito universitario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1"/>
          <p:cNvSpPr/>
          <p:nvPr/>
        </p:nvSpPr>
        <p:spPr>
          <a:xfrm>
            <a:off x="6263613" y="2295213"/>
            <a:ext cx="5257800" cy="24048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1"/>
          <p:cNvSpPr/>
          <p:nvPr/>
        </p:nvSpPr>
        <p:spPr>
          <a:xfrm>
            <a:off x="6583643" y="2569533"/>
            <a:ext cx="512100" cy="5121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server_forest.png" id="1002" name="Google Shape;100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8857" y="2684747"/>
            <a:ext cx="281635" cy="281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51"/>
          <p:cNvSpPr/>
          <p:nvPr/>
        </p:nvSpPr>
        <p:spPr>
          <a:xfrm>
            <a:off x="7269443" y="2587821"/>
            <a:ext cx="3977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HiGHS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51"/>
          <p:cNvSpPr/>
          <p:nvPr/>
        </p:nvSpPr>
        <p:spPr>
          <a:xfrm>
            <a:off x="7269443" y="2953581"/>
            <a:ext cx="3977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Referencia del ecosistema open source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1"/>
          <p:cNvSpPr/>
          <p:nvPr/>
        </p:nvSpPr>
        <p:spPr>
          <a:xfrm>
            <a:off x="6583643" y="3346773"/>
            <a:ext cx="4617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 Desarrollado en la Universidad de Edinburgh, en activo desarrollo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1"/>
          <p:cNvSpPr/>
          <p:nvPr/>
        </p:nvSpPr>
        <p:spPr>
          <a:xfrm>
            <a:off x="6583643" y="3900023"/>
            <a:ext cx="4617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•  Completamente gratuito: reproducible sin licencia comercial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51"/>
          <p:cNvSpPr/>
          <p:nvPr/>
        </p:nvSpPr>
        <p:spPr>
          <a:xfrm>
            <a:off x="640080" y="5376672"/>
            <a:ext cx="10881300" cy="594300"/>
          </a:xfrm>
          <a:prstGeom prst="roundRect">
            <a:avLst>
              <a:gd fmla="val 13846" name="adj"/>
            </a:avLst>
          </a:prstGeom>
          <a:solidFill>
            <a:srgbClr val="1E3D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51"/>
          <p:cNvSpPr/>
          <p:nvPr/>
        </p:nvSpPr>
        <p:spPr>
          <a:xfrm>
            <a:off x="960120" y="5376672"/>
            <a:ext cx="10241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Timeout: </a:t>
            </a:r>
            <a:r>
              <a:rPr b="0" i="0" lang="en-US" sz="110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1200 s por ejecución    </a:t>
            </a:r>
            <a:r>
              <a:rPr b="1" i="0" lang="en-US" sz="11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   Límite de memoria: </a:t>
            </a:r>
            <a:r>
              <a:rPr b="0" i="0" lang="en-US" sz="110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10 GB de RAM    </a:t>
            </a:r>
            <a:r>
              <a:rPr b="1" i="0" lang="en-US" sz="11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2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3 · MÉTODO EXACTO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52"/>
          <p:cNvSpPr/>
          <p:nvPr/>
        </p:nvSpPr>
        <p:spPr>
          <a:xfrm>
            <a:off x="640080" y="841248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Programación Lineal Entera Mixta (MILP)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6" name="Google Shape;1016;p52" title="Screenshot from 2026-07-11 11-46-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775" y="1700125"/>
            <a:ext cx="5215974" cy="459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3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METODOLOGÍA 3 · ANÁLISIS DE COMPLEJIDAD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3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Crecimiento Combinatorio del Modelo Exacto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3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El término dominante crece como </a:t>
            </a:r>
            <a:r>
              <a:rPr b="1" i="0" lang="en-US" sz="1250" u="none" cap="none" strike="noStrike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O(|V| · |N|²)</a:t>
            </a:r>
            <a:r>
              <a:rPr b="0" i="0" lang="en-US" sz="125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, con |N| = |C| + 2|V|. Duplicar el tamaño de la instancia no duplica el modelo — lo multiplica.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53"/>
          <p:cNvSpPr/>
          <p:nvPr/>
        </p:nvSpPr>
        <p:spPr>
          <a:xfrm>
            <a:off x="655317" y="3206250"/>
            <a:ext cx="3931800" cy="2011800"/>
          </a:xfrm>
          <a:prstGeom prst="roundRect">
            <a:avLst>
              <a:gd fmla="val 4091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53"/>
          <p:cNvSpPr/>
          <p:nvPr/>
        </p:nvSpPr>
        <p:spPr>
          <a:xfrm>
            <a:off x="655317" y="3462282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|C| = 20,  |V| = 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53"/>
          <p:cNvSpPr/>
          <p:nvPr/>
        </p:nvSpPr>
        <p:spPr>
          <a:xfrm>
            <a:off x="655317" y="3828042"/>
            <a:ext cx="3931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≈ 7.000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53"/>
          <p:cNvSpPr/>
          <p:nvPr/>
        </p:nvSpPr>
        <p:spPr>
          <a:xfrm>
            <a:off x="655317" y="462357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términos en el modelo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9" name="Google Shape;1029;p53"/>
          <p:cNvCxnSpPr/>
          <p:nvPr/>
        </p:nvCxnSpPr>
        <p:spPr>
          <a:xfrm>
            <a:off x="4770118" y="4212090"/>
            <a:ext cx="2651700" cy="0"/>
          </a:xfrm>
          <a:prstGeom prst="straightConnector1">
            <a:avLst/>
          </a:prstGeom>
          <a:noFill/>
          <a:ln cap="flat" cmpd="sng" w="38100">
            <a:solidFill>
              <a:srgbClr val="C89B3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0" name="Google Shape;1030;p53"/>
          <p:cNvSpPr/>
          <p:nvPr/>
        </p:nvSpPr>
        <p:spPr>
          <a:xfrm>
            <a:off x="5593078" y="3956058"/>
            <a:ext cx="1005900" cy="512100"/>
          </a:xfrm>
          <a:prstGeom prst="roundRect">
            <a:avLst>
              <a:gd fmla="val 50000" name="adj"/>
            </a:avLst>
          </a:prstGeom>
          <a:solidFill>
            <a:srgbClr val="C89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53"/>
          <p:cNvSpPr/>
          <p:nvPr/>
        </p:nvSpPr>
        <p:spPr>
          <a:xfrm>
            <a:off x="5593078" y="3956058"/>
            <a:ext cx="1005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×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53"/>
          <p:cNvSpPr/>
          <p:nvPr/>
        </p:nvSpPr>
        <p:spPr>
          <a:xfrm>
            <a:off x="4770118" y="4504698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tamaño de instancia ×2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3"/>
          <p:cNvSpPr/>
          <p:nvPr/>
        </p:nvSpPr>
        <p:spPr>
          <a:xfrm>
            <a:off x="7604758" y="3206250"/>
            <a:ext cx="3931800" cy="2011800"/>
          </a:xfrm>
          <a:prstGeom prst="roundRect">
            <a:avLst>
              <a:gd fmla="val 4091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53"/>
          <p:cNvSpPr/>
          <p:nvPr/>
        </p:nvSpPr>
        <p:spPr>
          <a:xfrm>
            <a:off x="7604758" y="3462282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CB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9CCBF"/>
                </a:solidFill>
                <a:latin typeface="Calibri"/>
                <a:ea typeface="Calibri"/>
                <a:cs typeface="Calibri"/>
                <a:sym typeface="Calibri"/>
              </a:rPr>
              <a:t>|C| = 40,  |V| = 20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53"/>
          <p:cNvSpPr/>
          <p:nvPr/>
        </p:nvSpPr>
        <p:spPr>
          <a:xfrm>
            <a:off x="7604758" y="3828042"/>
            <a:ext cx="3931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C89B3C"/>
                </a:solidFill>
                <a:latin typeface="Cambria"/>
                <a:ea typeface="Cambria"/>
                <a:cs typeface="Cambria"/>
                <a:sym typeface="Cambria"/>
              </a:rPr>
              <a:t>≈ 56.000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3"/>
          <p:cNvSpPr/>
          <p:nvPr/>
        </p:nvSpPr>
        <p:spPr>
          <a:xfrm>
            <a:off x="7604758" y="462357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CB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9CCBF"/>
                </a:solidFill>
                <a:latin typeface="Calibri"/>
                <a:ea typeface="Calibri"/>
                <a:cs typeface="Calibri"/>
                <a:sym typeface="Calibri"/>
              </a:rPr>
              <a:t>términos en el modelo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4"/>
          <p:cNvSpPr/>
          <p:nvPr/>
        </p:nvSpPr>
        <p:spPr>
          <a:xfrm>
            <a:off x="640080" y="750000"/>
            <a:ext cx="90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SECCIÓN 05 DE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54"/>
          <p:cNvSpPr/>
          <p:nvPr/>
        </p:nvSpPr>
        <p:spPr>
          <a:xfrm>
            <a:off x="640080" y="1250000"/>
            <a:ext cx="103669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Framework </a:t>
            </a: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y configuraciones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54"/>
          <p:cNvSpPr/>
          <p:nvPr/>
        </p:nvSpPr>
        <p:spPr>
          <a:xfrm>
            <a:off x="640080" y="2150000"/>
            <a:ext cx="9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9C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Un entorno experimental controlado para comparar las tres estrategias bajo las mismas condiciones.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4" name="Google Shape;1044;p54"/>
          <p:cNvCxnSpPr>
            <a:endCxn id="1045" idx="6"/>
          </p:cNvCxnSpPr>
          <p:nvPr/>
        </p:nvCxnSpPr>
        <p:spPr>
          <a:xfrm>
            <a:off x="982880" y="4600000"/>
            <a:ext cx="8750400" cy="0"/>
          </a:xfrm>
          <a:prstGeom prst="straightConnector1">
            <a:avLst/>
          </a:prstGeom>
          <a:noFill/>
          <a:ln cap="flat" cmpd="sng" w="12700">
            <a:solidFill>
              <a:srgbClr val="3A5A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6" name="Google Shape;1046;p54"/>
          <p:cNvSpPr/>
          <p:nvPr/>
        </p:nvSpPr>
        <p:spPr>
          <a:xfrm>
            <a:off x="7543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4"/>
          <p:cNvSpPr/>
          <p:nvPr/>
        </p:nvSpPr>
        <p:spPr>
          <a:xfrm>
            <a:off x="245872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54"/>
          <p:cNvSpPr/>
          <p:nvPr/>
        </p:nvSpPr>
        <p:spPr>
          <a:xfrm>
            <a:off x="416306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4"/>
          <p:cNvSpPr/>
          <p:nvPr/>
        </p:nvSpPr>
        <p:spPr>
          <a:xfrm>
            <a:off x="586740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4"/>
          <p:cNvSpPr/>
          <p:nvPr/>
        </p:nvSpPr>
        <p:spPr>
          <a:xfrm>
            <a:off x="7457440" y="4257100"/>
            <a:ext cx="685800" cy="6858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54"/>
          <p:cNvSpPr/>
          <p:nvPr/>
        </p:nvSpPr>
        <p:spPr>
          <a:xfrm>
            <a:off x="92760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5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FRAMEWORK Y CONFIGURACIONES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5"/>
          <p:cNvSpPr/>
          <p:nvPr/>
        </p:nvSpPr>
        <p:spPr>
          <a:xfrm>
            <a:off x="640080" y="841248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30 Instancias · 4 Solvers · 120 Ejecuciones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5"/>
          <p:cNvSpPr/>
          <p:nvPr/>
        </p:nvSpPr>
        <p:spPr>
          <a:xfrm>
            <a:off x="640080" y="1828800"/>
            <a:ext cx="5257800" cy="2286000"/>
          </a:xfrm>
          <a:prstGeom prst="roundRect">
            <a:avLst>
              <a:gd fmla="val 360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55"/>
          <p:cNvSpPr/>
          <p:nvPr/>
        </p:nvSpPr>
        <p:spPr>
          <a:xfrm>
            <a:off x="932688" y="2084832"/>
            <a:ext cx="457200" cy="457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sitemap_forest.png" id="1060" name="Google Shape;106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558" y="21877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55"/>
          <p:cNvSpPr/>
          <p:nvPr/>
        </p:nvSpPr>
        <p:spPr>
          <a:xfrm>
            <a:off x="1536192" y="212140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Generador Constructivo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5"/>
          <p:cNvSpPr/>
          <p:nvPr/>
        </p:nvSpPr>
        <p:spPr>
          <a:xfrm>
            <a:off x="932688" y="2651760"/>
            <a:ext cx="46725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Construye primero una solución de referencia (greedy por capacidad) y centra las ventanas de tiempo alrededor de ella. Factibilidad garantizada por construcción, pero con sesgo favorable a TWNN.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55"/>
          <p:cNvSpPr/>
          <p:nvPr/>
        </p:nvSpPr>
        <p:spPr>
          <a:xfrm>
            <a:off x="6263640" y="1828800"/>
            <a:ext cx="5257800" cy="2286000"/>
          </a:xfrm>
          <a:prstGeom prst="roundRect">
            <a:avLst>
              <a:gd fmla="val 3600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55"/>
          <p:cNvSpPr/>
          <p:nvPr/>
        </p:nvSpPr>
        <p:spPr>
          <a:xfrm>
            <a:off x="6556248" y="2084832"/>
            <a:ext cx="457200" cy="457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boxes_forest.png" id="1065" name="Google Shape;106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9118" y="218770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55"/>
          <p:cNvSpPr/>
          <p:nvPr/>
        </p:nvSpPr>
        <p:spPr>
          <a:xfrm>
            <a:off x="7159752" y="2121408"/>
            <a:ext cx="4069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Generador Aleatorio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5"/>
          <p:cNvSpPr/>
          <p:nvPr/>
        </p:nvSpPr>
        <p:spPr>
          <a:xfrm>
            <a:off x="6556248" y="2651760"/>
            <a:ext cx="467258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No construye ninguna solución previa: las ventanas de tiempo se ubican aleatoriamente dentro del horizonte estimado. Las instancias resultantes pueden ser infactibles.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55"/>
          <p:cNvSpPr/>
          <p:nvPr/>
        </p:nvSpPr>
        <p:spPr>
          <a:xfrm>
            <a:off x="640080" y="4389120"/>
            <a:ext cx="10881300" cy="1691700"/>
          </a:xfrm>
          <a:prstGeom prst="roundRect">
            <a:avLst>
              <a:gd fmla="val 4865" name="adj"/>
            </a:avLst>
          </a:prstGeom>
          <a:solidFill>
            <a:srgbClr val="1E3D2B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55"/>
          <p:cNvSpPr/>
          <p:nvPr/>
        </p:nvSpPr>
        <p:spPr>
          <a:xfrm>
            <a:off x="932690" y="462070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CONFIGURACIONES</a:t>
            </a:r>
            <a:r>
              <a:rPr b="1" lang="en-US" sz="1050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 DEL </a:t>
            </a:r>
            <a:r>
              <a:rPr b="1" i="0" lang="en-US" sz="10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EXPERIMENTO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55"/>
          <p:cNvSpPr/>
          <p:nvPr/>
        </p:nvSpPr>
        <p:spPr>
          <a:xfrm>
            <a:off x="932690" y="5038423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|C| ∈ {5…80}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55"/>
          <p:cNvSpPr/>
          <p:nvPr/>
        </p:nvSpPr>
        <p:spPr>
          <a:xfrm>
            <a:off x="932690" y="5312743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2B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AEC2B3"/>
                </a:solidFill>
                <a:latin typeface="Calibri"/>
                <a:ea typeface="Calibri"/>
                <a:cs typeface="Calibri"/>
                <a:sym typeface="Calibri"/>
              </a:rPr>
              <a:t>Cantidad de clientes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5"/>
          <p:cNvSpPr/>
          <p:nvPr/>
        </p:nvSpPr>
        <p:spPr>
          <a:xfrm>
            <a:off x="4480570" y="5020111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 relaciones de flota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55"/>
          <p:cNvSpPr/>
          <p:nvPr/>
        </p:nvSpPr>
        <p:spPr>
          <a:xfrm>
            <a:off x="4480570" y="5303518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2B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C2B3"/>
                </a:solidFill>
                <a:latin typeface="Calibri"/>
                <a:ea typeface="Calibri"/>
                <a:cs typeface="Calibri"/>
                <a:sym typeface="Calibri"/>
              </a:rPr>
              <a:t>V=C/2, V=C, V=2C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55"/>
          <p:cNvSpPr/>
          <p:nvPr/>
        </p:nvSpPr>
        <p:spPr>
          <a:xfrm>
            <a:off x="8028438" y="5038423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 solvers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55"/>
          <p:cNvSpPr/>
          <p:nvPr/>
        </p:nvSpPr>
        <p:spPr>
          <a:xfrm>
            <a:off x="8028438" y="5312743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2B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AEC2B3"/>
                </a:solidFill>
                <a:latin typeface="Calibri"/>
                <a:ea typeface="Calibri"/>
                <a:cs typeface="Calibri"/>
                <a:sym typeface="Calibri"/>
              </a:rPr>
              <a:t>TWNN, ACO, Gurobi, HiGHS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56"/>
          <p:cNvSpPr/>
          <p:nvPr/>
        </p:nvSpPr>
        <p:spPr>
          <a:xfrm>
            <a:off x="640080" y="750000"/>
            <a:ext cx="9000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SECCIÓN 07 DE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56"/>
          <p:cNvSpPr/>
          <p:nvPr/>
        </p:nvSpPr>
        <p:spPr>
          <a:xfrm>
            <a:off x="640080" y="1250000"/>
            <a:ext cx="103669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Comparación de resultados</a:t>
            </a:r>
            <a:endParaRPr b="1" sz="36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2" name="Google Shape;1082;p56"/>
          <p:cNvSpPr/>
          <p:nvPr/>
        </p:nvSpPr>
        <p:spPr>
          <a:xfrm>
            <a:off x="640080" y="2150000"/>
            <a:ext cx="9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BD9C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9CF"/>
                </a:solidFill>
                <a:latin typeface="Calibri"/>
                <a:ea typeface="Calibri"/>
                <a:cs typeface="Calibri"/>
                <a:sym typeface="Calibri"/>
              </a:rPr>
              <a:t>Cobertura, calidad de solución y tiempo de cómputo: cómo se desempeña cada estrategia frente a las demás.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3" name="Google Shape;1083;p56"/>
          <p:cNvCxnSpPr>
            <a:endCxn id="1084" idx="6"/>
          </p:cNvCxnSpPr>
          <p:nvPr/>
        </p:nvCxnSpPr>
        <p:spPr>
          <a:xfrm>
            <a:off x="982880" y="4600000"/>
            <a:ext cx="8864700" cy="0"/>
          </a:xfrm>
          <a:prstGeom prst="straightConnector1">
            <a:avLst/>
          </a:prstGeom>
          <a:noFill/>
          <a:ln cap="flat" cmpd="sng" w="12700">
            <a:solidFill>
              <a:srgbClr val="3A5A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56"/>
          <p:cNvSpPr/>
          <p:nvPr/>
        </p:nvSpPr>
        <p:spPr>
          <a:xfrm>
            <a:off x="7543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56"/>
          <p:cNvSpPr/>
          <p:nvPr/>
        </p:nvSpPr>
        <p:spPr>
          <a:xfrm>
            <a:off x="245872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56"/>
          <p:cNvSpPr/>
          <p:nvPr/>
        </p:nvSpPr>
        <p:spPr>
          <a:xfrm>
            <a:off x="416306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6"/>
          <p:cNvSpPr/>
          <p:nvPr/>
        </p:nvSpPr>
        <p:spPr>
          <a:xfrm>
            <a:off x="586740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56"/>
          <p:cNvSpPr/>
          <p:nvPr/>
        </p:nvSpPr>
        <p:spPr>
          <a:xfrm>
            <a:off x="757174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56"/>
          <p:cNvSpPr/>
          <p:nvPr/>
        </p:nvSpPr>
        <p:spPr>
          <a:xfrm>
            <a:off x="9276080" y="4371400"/>
            <a:ext cx="457200" cy="4572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977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6E8977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56"/>
          <p:cNvSpPr/>
          <p:nvPr/>
        </p:nvSpPr>
        <p:spPr>
          <a:xfrm>
            <a:off x="9161780" y="4257100"/>
            <a:ext cx="685800" cy="685800"/>
          </a:xfrm>
          <a:prstGeom prst="ellipse">
            <a:avLst/>
          </a:prstGeom>
          <a:solidFill>
            <a:srgbClr val="C89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57"/>
          <p:cNvSpPr/>
          <p:nvPr/>
        </p:nvSpPr>
        <p:spPr>
          <a:xfrm>
            <a:off x="-351625" y="-90000"/>
            <a:ext cx="12737400" cy="703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7" name="Google Shape;1097;p57" title="cobertu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25751"/>
            <a:ext cx="8368975" cy="4612850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sp>
        <p:nvSpPr>
          <p:cNvPr id="1098" name="Google Shape;1098;p57"/>
          <p:cNvSpPr/>
          <p:nvPr/>
        </p:nvSpPr>
        <p:spPr>
          <a:xfrm>
            <a:off x="7936875" y="1970700"/>
            <a:ext cx="4378500" cy="29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Intermitencia de TWNN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Zona de decaimiento para MILP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Gurobi &gt; HiGHS 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365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700"/>
              <a:buFont typeface="Cambria"/>
              <a:buChar char="●"/>
            </a:pPr>
            <a:r>
              <a:rPr b="1" lang="en-US" sz="17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ACO (26/30) &gt; Gurobi (24/30)</a:t>
            </a:r>
            <a:endParaRPr b="1" sz="17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8"/>
          <p:cNvSpPr/>
          <p:nvPr/>
        </p:nvSpPr>
        <p:spPr>
          <a:xfrm>
            <a:off x="0" y="0"/>
            <a:ext cx="12276900" cy="69108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5" name="Google Shape;1105;p58" title="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088" y="277225"/>
            <a:ext cx="8950725" cy="6356350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9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2" name="Google Shape;1112;p59" title="ram_us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488" y="291200"/>
            <a:ext cx="10105025" cy="6275600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6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9" name="Google Shape;1119;p60" title="cp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488" y="169067"/>
            <a:ext cx="9181024" cy="6519875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61"/>
          <p:cNvSpPr/>
          <p:nvPr/>
        </p:nvSpPr>
        <p:spPr>
          <a:xfrm>
            <a:off x="-125" y="0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6" name="Google Shape;1126;p61" title="escalabilidad_mil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550" y="415438"/>
            <a:ext cx="9704899" cy="6027125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62"/>
          <p:cNvSpPr/>
          <p:nvPr/>
        </p:nvSpPr>
        <p:spPr>
          <a:xfrm>
            <a:off x="-125" y="73725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3" name="Google Shape;1133;p62" title="distribucion_cos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6374" y="306325"/>
            <a:ext cx="7599251" cy="5669275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sp>
        <p:nvSpPr>
          <p:cNvPr id="1134" name="Google Shape;1134;p62"/>
          <p:cNvSpPr/>
          <p:nvPr/>
        </p:nvSpPr>
        <p:spPr>
          <a:xfrm>
            <a:off x="4009800" y="6222000"/>
            <a:ext cx="41724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91440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TWNN limitante (18/30)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3"/>
          <p:cNvSpPr/>
          <p:nvPr/>
        </p:nvSpPr>
        <p:spPr>
          <a:xfrm>
            <a:off x="-125" y="0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1" name="Google Shape;1141;p63" title="g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000" y="555787"/>
            <a:ext cx="7702649" cy="5746424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sp>
        <p:nvSpPr>
          <p:cNvPr id="1142" name="Google Shape;1142;p63"/>
          <p:cNvSpPr/>
          <p:nvPr/>
        </p:nvSpPr>
        <p:spPr>
          <a:xfrm>
            <a:off x="7835100" y="2889750"/>
            <a:ext cx="45813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Highs</a:t>
            </a: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limitante (20/30)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Dispercion y gap negativo Highs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800"/>
              <a:buFont typeface="Cambria"/>
              <a:buChar char="●"/>
            </a:pPr>
            <a:r>
              <a:rPr b="1" lang="en-US" sz="18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Rendimiento de ACO vs Gurobi</a:t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1E3D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64"/>
          <p:cNvSpPr/>
          <p:nvPr/>
        </p:nvSpPr>
        <p:spPr>
          <a:xfrm>
            <a:off x="-125" y="0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9" name="Google Shape;1149;p64" title="aco_cost_over_ti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75" y="423325"/>
            <a:ext cx="11385450" cy="5640925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65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6" name="Google Shape;1156;p65" title="uso_vehicul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088" y="466988"/>
            <a:ext cx="10747826" cy="5924025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66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3158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3" name="Google Shape;1163;p66" title="asignaciones.png"/>
          <p:cNvPicPr preferRelativeResize="0"/>
          <p:nvPr/>
        </p:nvPicPr>
        <p:blipFill rotWithShape="1">
          <a:blip r:embed="rId4">
            <a:alphaModFix/>
          </a:blip>
          <a:srcRect b="52469" l="0" r="0" t="0"/>
          <a:stretch/>
        </p:blipFill>
        <p:spPr>
          <a:xfrm>
            <a:off x="-191425" y="2109400"/>
            <a:ext cx="8516324" cy="3558272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pic>
        <p:nvPicPr>
          <p:cNvPr id="1164" name="Google Shape;1164;p66" title="asignaciones.png"/>
          <p:cNvPicPr preferRelativeResize="0"/>
          <p:nvPr/>
        </p:nvPicPr>
        <p:blipFill rotWithShape="1">
          <a:blip r:embed="rId4">
            <a:alphaModFix/>
          </a:blip>
          <a:srcRect b="3333" l="0" r="49789" t="48300"/>
          <a:stretch/>
        </p:blipFill>
        <p:spPr>
          <a:xfrm>
            <a:off x="8093525" y="2086725"/>
            <a:ext cx="4309727" cy="3603626"/>
          </a:xfrm>
          <a:prstGeom prst="rect">
            <a:avLst/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</p:pic>
      <p:sp>
        <p:nvSpPr>
          <p:cNvPr id="1165" name="Google Shape;1165;p66"/>
          <p:cNvSpPr/>
          <p:nvPr/>
        </p:nvSpPr>
        <p:spPr>
          <a:xfrm>
            <a:off x="640080" y="871423"/>
            <a:ext cx="10424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Ejemplo de 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Construcción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de Rutas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66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EJEMPLO PUNTUAL · C = 10 y V = 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7"/>
          <p:cNvSpPr/>
          <p:nvPr/>
        </p:nvSpPr>
        <p:spPr>
          <a:xfrm>
            <a:off x="640080" y="841248"/>
            <a:ext cx="10424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67"/>
          <p:cNvSpPr/>
          <p:nvPr/>
        </p:nvSpPr>
        <p:spPr>
          <a:xfrm>
            <a:off x="640063" y="2038775"/>
            <a:ext cx="3216000" cy="1300500"/>
          </a:xfrm>
          <a:prstGeom prst="roundRect">
            <a:avLst>
              <a:gd fmla="val 52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67"/>
          <p:cNvSpPr/>
          <p:nvPr/>
        </p:nvSpPr>
        <p:spPr>
          <a:xfrm>
            <a:off x="695550" y="2322725"/>
            <a:ext cx="32160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Estudio del problema e 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identificación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variante VRP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67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 · TRABAJO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67"/>
          <p:cNvSpPr/>
          <p:nvPr/>
        </p:nvSpPr>
        <p:spPr>
          <a:xfrm>
            <a:off x="4493013" y="2038763"/>
            <a:ext cx="3216000" cy="1300500"/>
          </a:xfrm>
          <a:prstGeom prst="roundRect">
            <a:avLst>
              <a:gd fmla="val 52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67"/>
          <p:cNvSpPr/>
          <p:nvPr/>
        </p:nvSpPr>
        <p:spPr>
          <a:xfrm>
            <a:off x="4488000" y="2322725"/>
            <a:ext cx="32211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de estrategias, framework y generadores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67"/>
          <p:cNvSpPr/>
          <p:nvPr/>
        </p:nvSpPr>
        <p:spPr>
          <a:xfrm>
            <a:off x="4487988" y="4182938"/>
            <a:ext cx="3216000" cy="1300500"/>
          </a:xfrm>
          <a:prstGeom prst="roundRect">
            <a:avLst>
              <a:gd fmla="val 52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67"/>
          <p:cNvSpPr/>
          <p:nvPr/>
        </p:nvSpPr>
        <p:spPr>
          <a:xfrm>
            <a:off x="4514850" y="4466900"/>
            <a:ext cx="31623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Metaheurística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competitiva que 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podría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usar el ente cuando necesite 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cálculos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rápidos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67"/>
          <p:cNvSpPr/>
          <p:nvPr/>
        </p:nvSpPr>
        <p:spPr>
          <a:xfrm>
            <a:off x="8345963" y="2038763"/>
            <a:ext cx="3216000" cy="1300500"/>
          </a:xfrm>
          <a:prstGeom prst="roundRect">
            <a:avLst>
              <a:gd fmla="val 52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67"/>
          <p:cNvSpPr/>
          <p:nvPr/>
        </p:nvSpPr>
        <p:spPr>
          <a:xfrm>
            <a:off x="8341025" y="2322725"/>
            <a:ext cx="32160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Simulaciones y 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r>
              <a:rPr b="1" lang="en-US" sz="1250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68"/>
          <p:cNvSpPr/>
          <p:nvPr/>
        </p:nvSpPr>
        <p:spPr>
          <a:xfrm>
            <a:off x="637030" y="1008748"/>
            <a:ext cx="10424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2900"/>
              <a:buFont typeface="Cambria"/>
              <a:buNone/>
            </a:pP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Líneas</a:t>
            </a:r>
            <a:r>
              <a:rPr b="1" lang="en-US" sz="2900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de</a:t>
            </a: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Trabajo</a:t>
            </a:r>
            <a:r>
              <a:rPr b="1" i="0" lang="en-US" sz="2900" u="none" cap="none" strike="noStrike">
                <a:solidFill>
                  <a:srgbClr val="1E3D2B"/>
                </a:solidFill>
                <a:latin typeface="Cambria"/>
                <a:ea typeface="Cambria"/>
                <a:cs typeface="Cambria"/>
                <a:sym typeface="Cambria"/>
              </a:rPr>
              <a:t> Futuro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68"/>
          <p:cNvSpPr/>
          <p:nvPr/>
        </p:nvSpPr>
        <p:spPr>
          <a:xfrm>
            <a:off x="637030" y="2752428"/>
            <a:ext cx="3456300" cy="1572900"/>
          </a:xfrm>
          <a:prstGeom prst="roundRect">
            <a:avLst>
              <a:gd fmla="val 52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68"/>
          <p:cNvSpPr/>
          <p:nvPr/>
        </p:nvSpPr>
        <p:spPr>
          <a:xfrm>
            <a:off x="893062" y="2971884"/>
            <a:ext cx="457200" cy="457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sync_forest.png" id="1190" name="Google Shape;119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932" y="307475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68"/>
          <p:cNvSpPr/>
          <p:nvPr/>
        </p:nvSpPr>
        <p:spPr>
          <a:xfrm>
            <a:off x="893062" y="3538812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Paralelizar ACO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68"/>
          <p:cNvSpPr/>
          <p:nvPr/>
        </p:nvSpPr>
        <p:spPr>
          <a:xfrm>
            <a:off x="893062" y="3886284"/>
            <a:ext cx="294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Construcción de soluciones entre hormigas en paralelo, más iteraciones por segundo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68"/>
          <p:cNvSpPr/>
          <p:nvPr/>
        </p:nvSpPr>
        <p:spPr>
          <a:xfrm>
            <a:off x="4367782" y="2752428"/>
            <a:ext cx="3456300" cy="1572900"/>
          </a:xfrm>
          <a:prstGeom prst="roundRect">
            <a:avLst>
              <a:gd fmla="val 52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68"/>
          <p:cNvSpPr/>
          <p:nvPr/>
        </p:nvSpPr>
        <p:spPr>
          <a:xfrm>
            <a:off x="4623814" y="2971884"/>
            <a:ext cx="457200" cy="457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network_forest.png" id="1195" name="Google Shape;119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6684" y="307475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68"/>
          <p:cNvSpPr/>
          <p:nvPr/>
        </p:nvSpPr>
        <p:spPr>
          <a:xfrm>
            <a:off x="4623814" y="3538812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Enfoque híbrido ACO–MILP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68"/>
          <p:cNvSpPr/>
          <p:nvPr/>
        </p:nvSpPr>
        <p:spPr>
          <a:xfrm>
            <a:off x="4623814" y="3886284"/>
            <a:ext cx="294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Fijar la flota que identifica ACO como restricción para acotar el MILP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68"/>
          <p:cNvSpPr/>
          <p:nvPr/>
        </p:nvSpPr>
        <p:spPr>
          <a:xfrm>
            <a:off x="8098534" y="2752428"/>
            <a:ext cx="3456300" cy="1572900"/>
          </a:xfrm>
          <a:prstGeom prst="roundRect">
            <a:avLst>
              <a:gd fmla="val 5233" name="adj"/>
            </a:avLst>
          </a:prstGeom>
          <a:solidFill>
            <a:srgbClr val="F1F5F0"/>
          </a:solidFill>
          <a:ln>
            <a:noFill/>
          </a:ln>
          <a:effectLst>
            <a:outerShdw blurRad="101600" rotWithShape="0" algn="bl" dir="5400000" dist="38100">
              <a:srgbClr val="1E3D2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68"/>
          <p:cNvSpPr/>
          <p:nvPr/>
        </p:nvSpPr>
        <p:spPr>
          <a:xfrm>
            <a:off x="8354566" y="2971884"/>
            <a:ext cx="457200" cy="457200"/>
          </a:xfrm>
          <a:prstGeom prst="ellipse">
            <a:avLst/>
          </a:prstGeom>
          <a:solidFill>
            <a:srgbClr val="E7EE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balance_forest.png" id="1200" name="Google Shape;1200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7436" y="307475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68"/>
          <p:cNvSpPr/>
          <p:nvPr/>
        </p:nvSpPr>
        <p:spPr>
          <a:xfrm>
            <a:off x="8354566" y="3538812"/>
            <a:ext cx="294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D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3D2B"/>
                </a:solidFill>
                <a:latin typeface="Calibri"/>
                <a:ea typeface="Calibri"/>
                <a:cs typeface="Calibri"/>
                <a:sym typeface="Calibri"/>
              </a:rPr>
              <a:t>Funciones objetivo alternativas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68"/>
          <p:cNvSpPr/>
          <p:nvPr/>
        </p:nvSpPr>
        <p:spPr>
          <a:xfrm>
            <a:off x="8354566" y="3886284"/>
            <a:ext cx="2944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6B62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F6B62"/>
                </a:solidFill>
                <a:latin typeface="Calibri"/>
                <a:ea typeface="Calibri"/>
                <a:cs typeface="Calibri"/>
                <a:sym typeface="Calibri"/>
              </a:rPr>
              <a:t>Equidad entre transportistas o minimizar el tiempo de finalización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68"/>
          <p:cNvSpPr/>
          <p:nvPr/>
        </p:nvSpPr>
        <p:spPr>
          <a:xfrm>
            <a:off x="640080" y="50292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02C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B5502C"/>
                </a:solidFill>
                <a:latin typeface="Calibri"/>
                <a:ea typeface="Calibri"/>
                <a:cs typeface="Calibri"/>
                <a:sym typeface="Calibri"/>
              </a:rPr>
              <a:t>CONCLUSIONES · POSIBLES TRABAJOS FUTUROS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9"/>
          <p:cNvSpPr/>
          <p:nvPr/>
        </p:nvSpPr>
        <p:spPr>
          <a:xfrm>
            <a:off x="0" y="2331720"/>
            <a:ext cx="121916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69"/>
          <p:cNvSpPr/>
          <p:nvPr/>
        </p:nvSpPr>
        <p:spPr>
          <a:xfrm>
            <a:off x="0" y="333756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9B3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89B3C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1" name="Google Shape;1211;p69"/>
          <p:cNvCxnSpPr/>
          <p:nvPr/>
        </p:nvCxnSpPr>
        <p:spPr>
          <a:xfrm>
            <a:off x="5501488" y="4160520"/>
            <a:ext cx="1188720" cy="0"/>
          </a:xfrm>
          <a:prstGeom prst="straightConnector1">
            <a:avLst/>
          </a:prstGeom>
          <a:noFill/>
          <a:ln cap="flat" cmpd="sng" w="25400">
            <a:solidFill>
              <a:srgbClr val="C89B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2" name="Google Shape;1212;p69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2D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6E2D9"/>
                </a:solidFill>
                <a:latin typeface="Calibri"/>
                <a:ea typeface="Calibri"/>
                <a:cs typeface="Calibri"/>
                <a:sym typeface="Calibri"/>
              </a:rPr>
              <a:t>Tomás Marmay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69"/>
          <p:cNvSpPr/>
          <p:nvPr/>
        </p:nvSpPr>
        <p:spPr>
          <a:xfrm>
            <a:off x="0" y="4709160"/>
            <a:ext cx="1219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7A09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7A090"/>
                </a:solidFill>
                <a:latin typeface="Calibri"/>
                <a:ea typeface="Calibri"/>
                <a:cs typeface="Calibri"/>
                <a:sym typeface="Calibri"/>
              </a:rPr>
              <a:t>Director: Luis Ariel Biedma  ·  F</a:t>
            </a:r>
            <a:r>
              <a:rPr lang="en-US" sz="1150">
                <a:solidFill>
                  <a:srgbClr val="87A09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150" u="none" cap="none" strike="noStrike">
                <a:solidFill>
                  <a:srgbClr val="87A090"/>
                </a:solidFill>
                <a:latin typeface="Calibri"/>
                <a:ea typeface="Calibri"/>
                <a:cs typeface="Calibri"/>
                <a:sym typeface="Calibri"/>
              </a:rPr>
              <a:t>MAF, Universidad Nacional de Córdoba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69"/>
          <p:cNvSpPr/>
          <p:nvPr/>
        </p:nvSpPr>
        <p:spPr>
          <a:xfrm>
            <a:off x="4518658" y="5577815"/>
            <a:ext cx="420600" cy="4206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leaf_gold.png" id="1215" name="Google Shape;121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3814" y="568297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69"/>
          <p:cNvSpPr/>
          <p:nvPr/>
        </p:nvSpPr>
        <p:spPr>
          <a:xfrm>
            <a:off x="4015738" y="6062447"/>
            <a:ext cx="141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4A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4A2"/>
                </a:solidFill>
                <a:latin typeface="Calibri"/>
                <a:ea typeface="Calibri"/>
                <a:cs typeface="Calibri"/>
                <a:sym typeface="Calibri"/>
              </a:rPr>
              <a:t>Logística Agrícola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69"/>
          <p:cNvSpPr/>
          <p:nvPr/>
        </p:nvSpPr>
        <p:spPr>
          <a:xfrm>
            <a:off x="5890258" y="5577815"/>
            <a:ext cx="420600" cy="4206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ant_gold.png" id="1218" name="Google Shape;1218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5414" y="568297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69"/>
          <p:cNvSpPr/>
          <p:nvPr/>
        </p:nvSpPr>
        <p:spPr>
          <a:xfrm>
            <a:off x="5387338" y="6062447"/>
            <a:ext cx="141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4A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4A2"/>
                </a:solidFill>
                <a:latin typeface="Calibri"/>
                <a:ea typeface="Calibri"/>
                <a:cs typeface="Calibri"/>
                <a:sym typeface="Calibri"/>
              </a:rPr>
              <a:t>ACO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69"/>
          <p:cNvSpPr/>
          <p:nvPr/>
        </p:nvSpPr>
        <p:spPr>
          <a:xfrm>
            <a:off x="7261858" y="5577815"/>
            <a:ext cx="420600" cy="420600"/>
          </a:xfrm>
          <a:prstGeom prst="ellipse">
            <a:avLst/>
          </a:prstGeom>
          <a:solidFill>
            <a:srgbClr val="2446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thesis-pptx/images/calculator_gold.png" id="1221" name="Google Shape;1221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7014" y="5682971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69"/>
          <p:cNvSpPr/>
          <p:nvPr/>
        </p:nvSpPr>
        <p:spPr>
          <a:xfrm>
            <a:off x="6758938" y="6062447"/>
            <a:ext cx="141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4A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4A2"/>
                </a:solidFill>
                <a:latin typeface="Calibri"/>
                <a:ea typeface="Calibri"/>
                <a:cs typeface="Calibri"/>
                <a:sym typeface="Calibri"/>
              </a:rPr>
              <a:t>MILP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